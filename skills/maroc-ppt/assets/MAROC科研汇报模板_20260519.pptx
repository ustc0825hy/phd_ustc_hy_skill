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>
        <a:latin typeface="Times New Roman"/>
        <a:ea typeface="微软雅黑"/>
        <a:cs typeface="Times New Roman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微软雅黑"/>
        <a:cs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8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8BCBD92-A6F9-4ADC-B87A-7B2567D5065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E8B8E5-89C4-4470-9F0E-BA86FAD2705B}"/>
              </a:ext>
            </a:extLst>
          </p:cNvPr>
          <p:cNvSpPr/>
          <p:nvPr userDrawn="1"/>
        </p:nvSpPr>
        <p:spPr>
          <a:xfrm>
            <a:off x="786384" y="1051560"/>
            <a:ext cx="2377440" cy="41148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AutoSlideNumber">
            <a:extLst>
              <a:ext uri="{FF2B5EF4-FFF2-40B4-BE49-F238E27FC236}">
                <a16:creationId xmlns:a16="http://schemas.microsoft.com/office/drawing/2014/main" id="{A2509E3A-E4E4-4A2A-A23D-7EA1F0862D50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11C97C1A-158D-428D-A844-568B298A76EE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9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F8BE820-11E6-4FAA-BA8F-83A56420483F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260F5-5046-4BE1-AD0F-4F7EC64EA5E4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2F0CEA-7E16-49E2-9000-3C91C6A79CA9}"/>
              </a:ext>
            </a:extLst>
          </p:cNvPr>
          <p:cNvSpPr txBox="1"/>
          <p:nvPr userDrawn="1"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MAROC </a:t>
            </a:r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开发进度</a:t>
            </a:r>
          </a:p>
        </p:txBody>
      </p:sp>
      <p:sp>
        <p:nvSpPr>
          <p:cNvPr id="10" name="AutoSlideNumber">
            <a:extLst>
              <a:ext uri="{FF2B5EF4-FFF2-40B4-BE49-F238E27FC236}">
                <a16:creationId xmlns:a16="http://schemas.microsoft.com/office/drawing/2014/main" id="{B24F2B06-5C68-4E7B-B40A-879C0874A8C4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426C70A4-0FA3-44CC-9368-897F92F1BE77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526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86C31B1-71BF-4AB5-9ABE-1C907368702A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6A702-ED2C-42B8-B136-3206FDE63B77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EB4D04-5469-4AA8-BD9D-A137556EC3C1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A211FE5-DE64-435B-94CA-0A4C3AC6E1AF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CA8D2B7-3229-4707-9F6D-C8BEA8231AE4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3" name="AutoSlideNumber">
            <a:extLst>
              <a:ext uri="{FF2B5EF4-FFF2-40B4-BE49-F238E27FC236}">
                <a16:creationId xmlns:a16="http://schemas.microsoft.com/office/drawing/2014/main" id="{9F5E9ED7-E565-4B16-A9E1-689AE324EE7A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81441655-63B9-43B3-97C0-404914284AF0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2471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A7FE94D-A86D-4C0B-9609-353903F52D11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1DFC1A-F4ED-48B4-A099-471831DAB5B4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6F49F5-98C4-450B-8D75-35AE803F598C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BA11644-DA1C-4D91-A82E-FD6014F5F07F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C06806E-ADCB-4553-A178-9930C6FEE62F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4" name="AutoSlideNumber">
            <a:extLst>
              <a:ext uri="{FF2B5EF4-FFF2-40B4-BE49-F238E27FC236}">
                <a16:creationId xmlns:a16="http://schemas.microsoft.com/office/drawing/2014/main" id="{010167DD-5E16-40AD-994E-C467EA930971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6AB304B1-0BD7-44CF-B24B-7C03708EFC3B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727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10477A-07C5-4C07-9B22-C42EB3E9447D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B889C5-2EB1-4A0F-9B73-D6654D23F498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63ACEB-20B6-46B8-93D2-8341E6A997F0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7B5251A-EA72-47E5-A3A4-1FCC6E653A86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C955485-38EC-4647-A1E3-9A975022FCEF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6" name="AutoSlideNumber">
            <a:extLst>
              <a:ext uri="{FF2B5EF4-FFF2-40B4-BE49-F238E27FC236}">
                <a16:creationId xmlns:a16="http://schemas.microsoft.com/office/drawing/2014/main" id="{49079D88-7D1B-4452-B641-DA394E0EA9AB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60B78EE2-446C-4795-A051-7FB9038D9CFC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017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1A06542-DB4A-464B-8C07-B58BBC556461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71B7E8-6205-429E-A01A-866609DE5D11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FC7EEA-043D-4071-A3E4-864CC19E1316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97CF2FB-18B5-45B3-A252-7B9D7A28F449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62DAA9A-EBC6-47B1-8BC5-F7A9C7A48E62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2" name="AutoSlideNumber">
            <a:extLst>
              <a:ext uri="{FF2B5EF4-FFF2-40B4-BE49-F238E27FC236}">
                <a16:creationId xmlns:a16="http://schemas.microsoft.com/office/drawing/2014/main" id="{57BF3C56-A28B-46D9-B53A-2E4AE2ED7043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0BFD5F42-ABED-426E-87FE-ECF50EA5E1B3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309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ROC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BA368E1-F088-4E33-B22D-CE84CEB5E13B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968B67-C949-425C-86B0-DA74C2CA93B1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083434-E912-41A3-B0B9-3FEBE3F9A084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716481-28DE-49CE-9814-DE589D9BBBD2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616DA29-3E36-41F0-95E4-5ABD365574E8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1" name="AutoSlideNumber">
            <a:extLst>
              <a:ext uri="{FF2B5EF4-FFF2-40B4-BE49-F238E27FC236}">
                <a16:creationId xmlns:a16="http://schemas.microsoft.com/office/drawing/2014/main" id="{8FED03B2-05EC-4E67-B7B8-076C366F374C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5B5AA582-0380-442E-821E-DB971AC7750D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211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CB96DD9-4B84-4A52-9C47-A810A671FEB7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8148A8-DE5E-4539-BD19-24490484F41C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EC6FB2-EA8E-4426-8963-F96C62F4158C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1E5842D-1631-4D98-A22E-759CC6E27347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4ABD19B-DF3F-4930-B2DD-B0B477590C92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4" name="AutoSlideNumber">
            <a:extLst>
              <a:ext uri="{FF2B5EF4-FFF2-40B4-BE49-F238E27FC236}">
                <a16:creationId xmlns:a16="http://schemas.microsoft.com/office/drawing/2014/main" id="{21582C3A-ECAB-44AB-AD34-F06A3D65B5ED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25E6EA33-BA8B-4A8F-A6A7-36C4A19F4E76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303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44DECE9-47E0-4022-B328-060BE4AEC7A8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BDA275-0AB8-4F23-BC3E-67C7E303CB33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D78559-D05A-4655-83AB-B7E401BB10EF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07692E8-2487-463E-805F-30FF82AE71D3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88A3773-2E00-4737-9893-AD12777EBF7F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4" name="AutoSlideNumber">
            <a:extLst>
              <a:ext uri="{FF2B5EF4-FFF2-40B4-BE49-F238E27FC236}">
                <a16:creationId xmlns:a16="http://schemas.microsoft.com/office/drawing/2014/main" id="{F24F38A4-5858-425B-A4BE-39CF0F3A0178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0A4554B5-9B95-46D1-8379-10241EF582BD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55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OC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086DB5B-F7E5-4493-A578-4B3EEADAFFCD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515888-B33D-49AC-B379-DBE283445E2F}"/>
              </a:ext>
            </a:extLst>
          </p:cNvPr>
          <p:cNvSpPr/>
          <p:nvPr userDrawn="1"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73754"/>
          </a:solidFill>
          <a:ln w="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6476E9-4652-439D-9B0B-CC53443C355C}"/>
              </a:ext>
            </a:extLst>
          </p:cNvPr>
          <p:cNvSpPr/>
          <p:nvPr userDrawn="1"/>
        </p:nvSpPr>
        <p:spPr>
          <a:xfrm>
            <a:off x="0" y="786384"/>
            <a:ext cx="12191695" cy="32004"/>
          </a:xfrm>
          <a:prstGeom prst="rect">
            <a:avLst/>
          </a:prstGeom>
          <a:solidFill>
            <a:srgbClr val="F29E2F"/>
          </a:solidFill>
          <a:ln w="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26A718C-555A-41A6-A808-85E0FCC2B933}"/>
              </a:ext>
            </a:extLst>
          </p:cNvPr>
          <p:cNvCxnSpPr/>
          <p:nvPr userDrawn="1"/>
        </p:nvCxnSpPr>
        <p:spPr>
          <a:xfrm>
            <a:off x="502920" y="6473952"/>
            <a:ext cx="11183112" cy="0"/>
          </a:xfrm>
          <a:prstGeom prst="straightConnector1">
            <a:avLst/>
          </a:prstGeom>
          <a:ln w="10160">
            <a:solidFill>
              <a:srgbClr val="D2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A354813-3798-4451-9292-882A9B772396}"/>
              </a:ext>
            </a:extLst>
          </p:cNvPr>
          <p:cNvSpPr txBox="1"/>
          <p:nvPr userDrawn="1"/>
        </p:nvSpPr>
        <p:spPr>
          <a:xfrm>
            <a:off x="530352" y="6537960"/>
            <a:ext cx="9509760" cy="18210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l"/>
            <a:r>
              <a:rPr lang="zh-CN" altLang="en-US" sz="850" b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参考：</a:t>
            </a:r>
          </a:p>
        </p:txBody>
      </p:sp>
      <p:sp>
        <p:nvSpPr>
          <p:cNvPr id="13" name="AutoSlideNumber">
            <a:extLst>
              <a:ext uri="{FF2B5EF4-FFF2-40B4-BE49-F238E27FC236}">
                <a16:creationId xmlns:a16="http://schemas.microsoft.com/office/drawing/2014/main" id="{8292DC28-964B-4F40-9C97-23EABBBA4DCA}"/>
              </a:ext>
            </a:extLst>
          </p:cNvPr>
          <p:cNvSpPr txBox="1"/>
          <p:nvPr userDrawn="1"/>
        </p:nvSpPr>
        <p:spPr>
          <a:xfrm>
            <a:off x="11292840" y="6537960"/>
            <a:ext cx="384048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fld id="{A8BFFA9C-B514-43C2-95E3-6E67B62BE0EB}" type="slidenum">
              <a:rPr lang="zh-CN" altLang="en-US" sz="800" smtClean="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pPr algn="ctr"/>
              <a:t>‹#›</a:t>
            </a:fld>
            <a:endParaRPr lang="zh-CN" altLang="en-US" sz="800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264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MAROC 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8DF876-2EDD-4ED0-A5CF-E8936A03F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>
                <a:latin typeface="Times New Roman"/>
                <a:ea typeface="微软雅黑"/>
                <a:cs typeface="Times New Roman"/>
              </a:rP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63D9AE-985C-4050-BF0E-D21E657C0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latin typeface="Times New Roman"/>
                <a:ea typeface="微软雅黑"/>
                <a:cs typeface="Times New Roman"/>
              </a:rPr>
              <a:t>单击此处编辑母版文本样式</a:t>
            </a:r>
          </a:p>
          <a:p>
            <a:pPr lvl="1"/>
            <a:r>
              <a:rPr lang="zh-CN" altLang="en-US">
                <a:latin typeface="Times New Roman"/>
                <a:ea typeface="微软雅黑"/>
                <a:cs typeface="Times New Roman"/>
              </a:rPr>
              <a:t>二级</a:t>
            </a:r>
          </a:p>
          <a:p>
            <a:pPr lvl="2"/>
            <a:r>
              <a:rPr lang="zh-CN" altLang="en-US">
                <a:latin typeface="Times New Roman"/>
                <a:ea typeface="微软雅黑"/>
                <a:cs typeface="Times New Roman"/>
              </a:rPr>
              <a:t>三级</a:t>
            </a:r>
          </a:p>
          <a:p>
            <a:pPr lvl="3"/>
            <a:r>
              <a:rPr lang="zh-CN" altLang="en-US">
                <a:latin typeface="Times New Roman"/>
                <a:ea typeface="微软雅黑"/>
                <a:cs typeface="Times New Roman"/>
              </a:rPr>
              <a:t>四级</a:t>
            </a:r>
          </a:p>
          <a:p>
            <a:pPr lvl="4"/>
            <a:r>
              <a:rPr lang="zh-CN" altLang="en-US">
                <a:latin typeface="Times New Roman"/>
                <a:ea typeface="微软雅黑"/>
                <a:cs typeface="Times New Roman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F5B5BA-AA79-4522-A1F1-580B7221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E2D74-2C00-447D-9D2D-438A729EF7BF}" type="datetimeFigureOut">
              <a:rPr lang="zh-CN" altLang="en-US" smtClean="0">
                <a:latin typeface="Times New Roman"/>
                <a:ea typeface="微软雅黑"/>
                <a:cs typeface="Times New Roman"/>
              </a:rPr>
              <a:t>2026/5/19</a:t>
            </a:fld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C47C49-7EC7-4A94-BCB3-80A30441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263597-BFB3-4F93-B99E-70EE644C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4CBA8-8D01-41B8-9BC3-3B25E6B3DC9D}" type="slidenum">
              <a:rPr lang="zh-CN" altLang="en-US" smtClean="0">
                <a:latin typeface="Times New Roman"/>
                <a:ea typeface="微软雅黑"/>
                <a:cs typeface="Times New Roman"/>
              </a:rPr>
              <a:t>‹#›</a:t>
            </a:fld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652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270A15-0DF8-4EF9-86D6-9019A2A68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latin typeface="Times New Roman"/>
                <a:ea typeface="微软雅黑"/>
                <a:cs typeface="Times New Roman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19E822-AB99-41CE-9A98-EA25CE85D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latin typeface="Times New Roman"/>
                <a:ea typeface="微软雅黑"/>
                <a:cs typeface="Times New Roman"/>
              </a:rPr>
              <a:t>单击此处编辑母版文本样式</a:t>
            </a:r>
          </a:p>
          <a:p>
            <a:pPr lvl="1"/>
            <a:r>
              <a:rPr lang="zh-CN" altLang="en-US">
                <a:latin typeface="Times New Roman"/>
                <a:ea typeface="微软雅黑"/>
                <a:cs typeface="Times New Roman"/>
              </a:rPr>
              <a:t>二级</a:t>
            </a:r>
          </a:p>
          <a:p>
            <a:pPr lvl="2"/>
            <a:r>
              <a:rPr lang="zh-CN" altLang="en-US">
                <a:latin typeface="Times New Roman"/>
                <a:ea typeface="微软雅黑"/>
                <a:cs typeface="Times New Roman"/>
              </a:rPr>
              <a:t>三级</a:t>
            </a:r>
          </a:p>
          <a:p>
            <a:pPr lvl="3"/>
            <a:r>
              <a:rPr lang="zh-CN" altLang="en-US">
                <a:latin typeface="Times New Roman"/>
                <a:ea typeface="微软雅黑"/>
                <a:cs typeface="Times New Roman"/>
              </a:rPr>
              <a:t>四级</a:t>
            </a:r>
          </a:p>
          <a:p>
            <a:pPr lvl="4"/>
            <a:r>
              <a:rPr lang="zh-CN" altLang="en-US">
                <a:latin typeface="Times New Roman"/>
                <a:ea typeface="微软雅黑"/>
                <a:cs typeface="Times New Roman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EFD1B-09A1-4D2D-B130-3080BD775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微软雅黑"/>
                <a:cs typeface="Times New Roman"/>
              </a:defRPr>
            </a:lvl1pPr>
          </a:lstStyle>
          <a:p>
            <a:fld id="{73BE2D74-2C00-447D-9D2D-438A729EF7BF}" type="datetimeFigureOut">
              <a:rPr lang="zh-CN" altLang="en-US" smtClean="0">
                <a:latin typeface="Times New Roman"/>
                <a:ea typeface="微软雅黑"/>
                <a:cs typeface="Times New Roman"/>
              </a:rPr>
              <a:t>2026/5/19</a:t>
            </a:fld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12445-7A39-48E6-8326-F62663B69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微软雅黑"/>
                <a:cs typeface="Times New Roman"/>
              </a:defRPr>
            </a:lvl1pPr>
          </a:lstStyle>
          <a:p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6081B-D412-4BA4-BC93-C9F327B7A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/>
                <a:ea typeface="微软雅黑"/>
                <a:cs typeface="Times New Roman"/>
              </a:defRPr>
            </a:lvl1pPr>
          </a:lstStyle>
          <a:p>
            <a:fld id="{BC84CBA8-8D01-41B8-9BC3-3B25E6B3DC9D}" type="slidenum">
              <a:rPr lang="zh-CN" altLang="en-US" smtClean="0">
                <a:latin typeface="Times New Roman"/>
                <a:ea typeface="微软雅黑"/>
                <a:cs typeface="Times New Roman"/>
              </a:rPr>
              <a:t>‹#›</a:t>
            </a:fld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477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微软雅黑"/>
          <a:cs typeface="Times New Roman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/>
          <a:ea typeface="微软雅黑"/>
          <a:cs typeface="Times New Roman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/>
          <a:ea typeface="微软雅黑"/>
          <a:cs typeface="Times New Roman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/>
          <a:ea typeface="微软雅黑"/>
          <a:cs typeface="Times New Roman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9pPr>
    </p:bodyStyle>
    <p:otherStyle>
      <a:defPPr>
        <a:defRPr lang="zh-CN">
          <a:latin typeface="Times New Roman"/>
          <a:ea typeface="微软雅黑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微软雅黑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E16A47-D33B-46F7-9EEF-604732F7F326}"/>
              </a:ext>
            </a:extLst>
          </p:cNvPr>
          <p:cNvSpPr txBox="1"/>
          <p:nvPr/>
        </p:nvSpPr>
        <p:spPr>
          <a:xfrm>
            <a:off x="786384" y="1691640"/>
            <a:ext cx="5943600" cy="66684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4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MAROC </a:t>
            </a:r>
            <a:r>
              <a:rPr lang="zh-CN" altLang="en-US" sz="4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开发进度汇报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C926A-6502-447E-AC6D-D7FDCD16656D}"/>
              </a:ext>
            </a:extLst>
          </p:cNvPr>
          <p:cNvSpPr txBox="1"/>
          <p:nvPr/>
        </p:nvSpPr>
        <p:spPr>
          <a:xfrm>
            <a:off x="822960" y="2377440"/>
            <a:ext cx="6217920" cy="32829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配置链 </a:t>
            </a:r>
            <a:r>
              <a:rPr lang="en-US" altLang="zh-CN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</a:t>
            </a:r>
            <a:r>
              <a:rPr lang="zh-CN" altLang="en-US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寄存器行为 </a:t>
            </a:r>
            <a:r>
              <a:rPr lang="en-US" altLang="zh-CN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Ctest </a:t>
            </a:r>
            <a:r>
              <a:rPr lang="zh-CN" altLang="en-US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前置调试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68583D-7277-4D43-9D21-8C65A79ABD4E}"/>
              </a:ext>
            </a:extLst>
          </p:cNvPr>
          <p:cNvSpPr txBox="1"/>
          <p:nvPr/>
        </p:nvSpPr>
        <p:spPr>
          <a:xfrm>
            <a:off x="822960" y="2816352"/>
            <a:ext cx="3657600" cy="26674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汇报人 </a:t>
            </a:r>
            <a:r>
              <a:rPr lang="en-US" altLang="zh-CN" sz="1400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YYYY-MM-DD</a:t>
            </a:r>
            <a:endParaRPr lang="zh-CN" altLang="en-US" sz="1400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546B07-22E4-4E4C-A74A-B2B3137A330D}"/>
              </a:ext>
            </a:extLst>
          </p:cNvPr>
          <p:cNvSpPr/>
          <p:nvPr/>
        </p:nvSpPr>
        <p:spPr>
          <a:xfrm>
            <a:off x="786384" y="3703320"/>
            <a:ext cx="1170432" cy="530352"/>
          </a:xfrm>
          <a:prstGeom prst="roundRect">
            <a:avLst/>
          </a:prstGeom>
          <a:solidFill>
            <a:srgbClr val="4174BA"/>
          </a:solidFill>
          <a:ln w="635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69F70BC-FF9D-40E5-992F-309D0E65A17D}"/>
              </a:ext>
            </a:extLst>
          </p:cNvPr>
          <p:cNvSpPr/>
          <p:nvPr/>
        </p:nvSpPr>
        <p:spPr>
          <a:xfrm>
            <a:off x="2286000" y="3703320"/>
            <a:ext cx="1170432" cy="530352"/>
          </a:xfrm>
          <a:prstGeom prst="roundRect">
            <a:avLst/>
          </a:prstGeom>
          <a:solidFill>
            <a:srgbClr val="40979C"/>
          </a:solidFill>
          <a:ln w="6350">
            <a:solidFill>
              <a:srgbClr val="409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057902-C3A0-417E-817C-393305709FE9}"/>
              </a:ext>
            </a:extLst>
          </p:cNvPr>
          <p:cNvSpPr/>
          <p:nvPr/>
        </p:nvSpPr>
        <p:spPr>
          <a:xfrm>
            <a:off x="3785616" y="3703320"/>
            <a:ext cx="1170432" cy="530352"/>
          </a:xfrm>
          <a:prstGeom prst="roundRect">
            <a:avLst/>
          </a:prstGeom>
          <a:solidFill>
            <a:srgbClr val="6C9758"/>
          </a:solidFill>
          <a:ln w="635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FE668A-094A-4860-AFF1-6D73B9F14F2D}"/>
              </a:ext>
            </a:extLst>
          </p:cNvPr>
          <p:cNvSpPr/>
          <p:nvPr/>
        </p:nvSpPr>
        <p:spPr>
          <a:xfrm>
            <a:off x="5285232" y="3703320"/>
            <a:ext cx="1170432" cy="530352"/>
          </a:xfrm>
          <a:prstGeom prst="roundRect">
            <a:avLst/>
          </a:prstGeom>
          <a:solidFill>
            <a:srgbClr val="F29E2F"/>
          </a:solidFill>
          <a:ln w="635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1CB1E60-0F0C-4F01-90D9-6EC8552C26C3}"/>
              </a:ext>
            </a:extLst>
          </p:cNvPr>
          <p:cNvSpPr/>
          <p:nvPr/>
        </p:nvSpPr>
        <p:spPr>
          <a:xfrm>
            <a:off x="6784848" y="3703320"/>
            <a:ext cx="1170432" cy="530352"/>
          </a:xfrm>
          <a:prstGeom prst="roundRect">
            <a:avLst/>
          </a:prstGeom>
          <a:solidFill>
            <a:srgbClr val="D2393D"/>
          </a:solidFill>
          <a:ln w="6350">
            <a:solidFill>
              <a:srgbClr val="D239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E71B33-EFBA-4EF1-8AAE-53FD4CBD0FA0}"/>
              </a:ext>
            </a:extLst>
          </p:cNvPr>
          <p:cNvSpPr txBox="1"/>
          <p:nvPr/>
        </p:nvSpPr>
        <p:spPr>
          <a:xfrm>
            <a:off x="850392" y="3858768"/>
            <a:ext cx="717804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理论分析      代码实现      硬件问题      上板测试      后续计划</a:t>
            </a:r>
          </a:p>
        </p:txBody>
      </p:sp>
    </p:spTree>
    <p:extLst>
      <p:ext uri="{BB962C8B-B14F-4D97-AF65-F5344CB8AC3E}">
        <p14:creationId xmlns:p14="http://schemas.microsoft.com/office/powerpoint/2010/main" val="91513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AEE364-903B-4291-80CC-B693BD5C0FE7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本次汇报结构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86A41F-A5E6-4388-AF8B-C4D13BB756D1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5C8A66-0316-40C1-AB6C-B69EB45F923B}"/>
              </a:ext>
            </a:extLst>
          </p:cNvPr>
          <p:cNvSpPr txBox="1"/>
          <p:nvPr/>
        </p:nvSpPr>
        <p:spPr>
          <a:xfrm>
            <a:off x="640080" y="1051560"/>
            <a:ext cx="10789920" cy="3590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200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按“理论依据、近期工作、测试结果、当前边界和后续计划”组织。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E30436D-49F2-4027-863B-7EAC748AF204}"/>
              </a:ext>
            </a:extLst>
          </p:cNvPr>
          <p:cNvSpPr/>
          <p:nvPr/>
        </p:nvSpPr>
        <p:spPr>
          <a:xfrm>
            <a:off x="749808" y="1645920"/>
            <a:ext cx="5074920" cy="658368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F3B3B7F-B96D-422F-83AD-45E447560ADF}"/>
              </a:ext>
            </a:extLst>
          </p:cNvPr>
          <p:cNvSpPr/>
          <p:nvPr/>
        </p:nvSpPr>
        <p:spPr>
          <a:xfrm>
            <a:off x="914400" y="1810512"/>
            <a:ext cx="502920" cy="329184"/>
          </a:xfrm>
          <a:prstGeom prst="round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66F95F-3EFB-41C6-93D2-4E5A8EA757EB}"/>
              </a:ext>
            </a:extLst>
          </p:cNvPr>
          <p:cNvSpPr txBox="1"/>
          <p:nvPr/>
        </p:nvSpPr>
        <p:spPr>
          <a:xfrm>
            <a:off x="914400" y="1874520"/>
            <a:ext cx="50292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01</a:t>
            </a:r>
            <a:endParaRPr lang="zh-CN" altLang="en-US" sz="1000" b="1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1646E6-7AE2-47CF-AD90-9BC3DBDA2A4C}"/>
              </a:ext>
            </a:extLst>
          </p:cNvPr>
          <p:cNvSpPr txBox="1"/>
          <p:nvPr/>
        </p:nvSpPr>
        <p:spPr>
          <a:xfrm>
            <a:off x="1618488" y="1792224"/>
            <a:ext cx="242316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理论分析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2EA4F9-3045-4089-80B8-4A9C2DB4D30A}"/>
              </a:ext>
            </a:extLst>
          </p:cNvPr>
          <p:cNvSpPr txBox="1"/>
          <p:nvPr/>
        </p:nvSpPr>
        <p:spPr>
          <a:xfrm>
            <a:off x="1618488" y="2048256"/>
            <a:ext cx="2834640" cy="21287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手册对象、接口和时序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EB17EC-F6F2-44DA-854B-74F13232B110}"/>
              </a:ext>
            </a:extLst>
          </p:cNvPr>
          <p:cNvSpPr txBox="1"/>
          <p:nvPr/>
        </p:nvSpPr>
        <p:spPr>
          <a:xfrm>
            <a:off x="4956048" y="1865376"/>
            <a:ext cx="59436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4174B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03-06</a:t>
            </a:r>
            <a:endParaRPr lang="zh-CN" altLang="en-US" sz="1000" b="1">
              <a:solidFill>
                <a:srgbClr val="4174BA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F9E032D-92C6-49C6-9640-3E957347A919}"/>
              </a:ext>
            </a:extLst>
          </p:cNvPr>
          <p:cNvSpPr/>
          <p:nvPr/>
        </p:nvSpPr>
        <p:spPr>
          <a:xfrm>
            <a:off x="6419088" y="1645920"/>
            <a:ext cx="5074920" cy="658368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AD255BA-11AE-47C4-BA4C-2E54D219A010}"/>
              </a:ext>
            </a:extLst>
          </p:cNvPr>
          <p:cNvSpPr/>
          <p:nvPr/>
        </p:nvSpPr>
        <p:spPr>
          <a:xfrm>
            <a:off x="6583680" y="1810512"/>
            <a:ext cx="502920" cy="329184"/>
          </a:xfrm>
          <a:prstGeom prst="round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99CF2-79EC-4A56-9D2C-9E1F230A51FA}"/>
              </a:ext>
            </a:extLst>
          </p:cNvPr>
          <p:cNvSpPr txBox="1"/>
          <p:nvPr/>
        </p:nvSpPr>
        <p:spPr>
          <a:xfrm>
            <a:off x="6583680" y="1874520"/>
            <a:ext cx="50292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02</a:t>
            </a:r>
            <a:endParaRPr lang="zh-CN" altLang="en-US" sz="1000" b="1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EF1ED9-ABB3-4FA1-8934-F5707661513A}"/>
              </a:ext>
            </a:extLst>
          </p:cNvPr>
          <p:cNvSpPr txBox="1"/>
          <p:nvPr/>
        </p:nvSpPr>
        <p:spPr>
          <a:xfrm>
            <a:off x="7287768" y="1792224"/>
            <a:ext cx="242316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近期工作与测试对象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DB2A42-86E2-4CCD-9C84-E34FDF7B92EA}"/>
              </a:ext>
            </a:extLst>
          </p:cNvPr>
          <p:cNvSpPr txBox="1"/>
          <p:nvPr/>
        </p:nvSpPr>
        <p:spPr>
          <a:xfrm>
            <a:off x="7287768" y="2048256"/>
            <a:ext cx="2834640" cy="21287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当前工作和链路边界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B50D9A-61C8-43D0-ACB6-4ADA7759DE0B}"/>
              </a:ext>
            </a:extLst>
          </p:cNvPr>
          <p:cNvSpPr txBox="1"/>
          <p:nvPr/>
        </p:nvSpPr>
        <p:spPr>
          <a:xfrm>
            <a:off x="10625328" y="1865376"/>
            <a:ext cx="59436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6C9758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07-10</a:t>
            </a:r>
            <a:endParaRPr lang="zh-CN" altLang="en-US" sz="1000" b="1">
              <a:solidFill>
                <a:srgbClr val="6C9758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DEB9F91-A42A-4865-9FEC-DB19BC239D96}"/>
              </a:ext>
            </a:extLst>
          </p:cNvPr>
          <p:cNvSpPr/>
          <p:nvPr/>
        </p:nvSpPr>
        <p:spPr>
          <a:xfrm>
            <a:off x="749808" y="2578608"/>
            <a:ext cx="5074920" cy="658368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F1A90C4-F64D-4A36-BAE8-AB2D91687E29}"/>
              </a:ext>
            </a:extLst>
          </p:cNvPr>
          <p:cNvSpPr/>
          <p:nvPr/>
        </p:nvSpPr>
        <p:spPr>
          <a:xfrm>
            <a:off x="914400" y="2743200"/>
            <a:ext cx="502920" cy="329184"/>
          </a:xfrm>
          <a:prstGeom prst="round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F85EAB1-651E-4433-B188-62A201199C56}"/>
              </a:ext>
            </a:extLst>
          </p:cNvPr>
          <p:cNvSpPr txBox="1"/>
          <p:nvPr/>
        </p:nvSpPr>
        <p:spPr>
          <a:xfrm>
            <a:off x="914400" y="2807208"/>
            <a:ext cx="50292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03</a:t>
            </a:r>
            <a:endParaRPr lang="zh-CN" altLang="en-US" sz="1000" b="1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008262-DE6A-438A-899F-A7AB0F89F46C}"/>
              </a:ext>
            </a:extLst>
          </p:cNvPr>
          <p:cNvSpPr txBox="1"/>
          <p:nvPr/>
        </p:nvSpPr>
        <p:spPr>
          <a:xfrm>
            <a:off x="1618488" y="2724912"/>
            <a:ext cx="242316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测试方法与结果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DF6B0D-EAC5-4AFC-9905-9DB5D91C80ED}"/>
              </a:ext>
            </a:extLst>
          </p:cNvPr>
          <p:cNvSpPr txBox="1"/>
          <p:nvPr/>
        </p:nvSpPr>
        <p:spPr>
          <a:xfrm>
            <a:off x="1618488" y="2980944"/>
            <a:ext cx="2834640" cy="21287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仿真、</a:t>
            </a:r>
            <a:r>
              <a:rPr lang="en-US" altLang="zh-CN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ILA </a:t>
            </a:r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和寄存器行为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B62AFC-E789-444B-85D4-1FC128DB18EB}"/>
              </a:ext>
            </a:extLst>
          </p:cNvPr>
          <p:cNvSpPr txBox="1"/>
          <p:nvPr/>
        </p:nvSpPr>
        <p:spPr>
          <a:xfrm>
            <a:off x="4956048" y="2798064"/>
            <a:ext cx="59436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4174B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11-20</a:t>
            </a:r>
            <a:endParaRPr lang="zh-CN" altLang="en-US" sz="1000" b="1">
              <a:solidFill>
                <a:srgbClr val="4174BA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68DDC6C-6663-4101-87BE-37AFFC35C346}"/>
              </a:ext>
            </a:extLst>
          </p:cNvPr>
          <p:cNvSpPr/>
          <p:nvPr/>
        </p:nvSpPr>
        <p:spPr>
          <a:xfrm>
            <a:off x="6419088" y="2578608"/>
            <a:ext cx="5074920" cy="658368"/>
          </a:xfrm>
          <a:prstGeom prst="roundRect">
            <a:avLst/>
          </a:prstGeom>
          <a:solidFill>
            <a:srgbClr val="EFE9F8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5B02689-4618-42DD-8E16-77BB1DD39960}"/>
              </a:ext>
            </a:extLst>
          </p:cNvPr>
          <p:cNvSpPr/>
          <p:nvPr/>
        </p:nvSpPr>
        <p:spPr>
          <a:xfrm>
            <a:off x="6583680" y="2743200"/>
            <a:ext cx="502920" cy="329184"/>
          </a:xfrm>
          <a:prstGeom prst="roundRect">
            <a:avLst/>
          </a:prstGeom>
          <a:solidFill>
            <a:srgbClr val="6F54AA"/>
          </a:solidFill>
          <a:ln w="3810">
            <a:solidFill>
              <a:srgbClr val="6F54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D8745C-EE73-492C-82BF-952B6158E4BB}"/>
              </a:ext>
            </a:extLst>
          </p:cNvPr>
          <p:cNvSpPr txBox="1"/>
          <p:nvPr/>
        </p:nvSpPr>
        <p:spPr>
          <a:xfrm>
            <a:off x="6583680" y="2807208"/>
            <a:ext cx="50292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04</a:t>
            </a:r>
            <a:endParaRPr lang="zh-CN" altLang="en-US" sz="1000" b="1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6482DF-DA90-4945-B589-35D4D3509E99}"/>
              </a:ext>
            </a:extLst>
          </p:cNvPr>
          <p:cNvSpPr txBox="1"/>
          <p:nvPr/>
        </p:nvSpPr>
        <p:spPr>
          <a:xfrm>
            <a:off x="7287768" y="2724912"/>
            <a:ext cx="242316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Ctest/ADC </a:t>
            </a:r>
            <a:r>
              <a:rPr lang="zh-CN" altLang="en-US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调试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2FEF45-621B-4E05-A2A9-5424AEF510AA}"/>
              </a:ext>
            </a:extLst>
          </p:cNvPr>
          <p:cNvSpPr txBox="1"/>
          <p:nvPr/>
        </p:nvSpPr>
        <p:spPr>
          <a:xfrm>
            <a:off x="7287768" y="2980944"/>
            <a:ext cx="2834640" cy="21287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理论、问题和解决路径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4B2236A-33CA-4EC4-B490-0C3E0D73A02A}"/>
              </a:ext>
            </a:extLst>
          </p:cNvPr>
          <p:cNvSpPr txBox="1"/>
          <p:nvPr/>
        </p:nvSpPr>
        <p:spPr>
          <a:xfrm>
            <a:off x="10625328" y="2798064"/>
            <a:ext cx="59436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6F54A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21-26</a:t>
            </a:r>
            <a:endParaRPr lang="zh-CN" altLang="en-US" sz="1000" b="1">
              <a:solidFill>
                <a:srgbClr val="6F54AA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60C49AE-322D-4791-AAF6-D9819F6A9FEF}"/>
              </a:ext>
            </a:extLst>
          </p:cNvPr>
          <p:cNvSpPr/>
          <p:nvPr/>
        </p:nvSpPr>
        <p:spPr>
          <a:xfrm>
            <a:off x="749808" y="3511296"/>
            <a:ext cx="5074920" cy="658368"/>
          </a:xfrm>
          <a:prstGeom prst="roundRect">
            <a:avLst/>
          </a:prstGeom>
          <a:solidFill>
            <a:srgbClr val="E0F6F7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E0B5758-8936-4296-B11C-C8A278E41F8E}"/>
              </a:ext>
            </a:extLst>
          </p:cNvPr>
          <p:cNvSpPr/>
          <p:nvPr/>
        </p:nvSpPr>
        <p:spPr>
          <a:xfrm>
            <a:off x="914400" y="3675888"/>
            <a:ext cx="502920" cy="329184"/>
          </a:xfrm>
          <a:prstGeom prst="roundRect">
            <a:avLst/>
          </a:prstGeom>
          <a:solidFill>
            <a:srgbClr val="40979C"/>
          </a:solidFill>
          <a:ln w="3810">
            <a:solidFill>
              <a:srgbClr val="409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A31C62-7B8F-4EDC-9F2E-D000B07DAA27}"/>
              </a:ext>
            </a:extLst>
          </p:cNvPr>
          <p:cNvSpPr txBox="1"/>
          <p:nvPr/>
        </p:nvSpPr>
        <p:spPr>
          <a:xfrm>
            <a:off x="914400" y="3739896"/>
            <a:ext cx="50292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05</a:t>
            </a:r>
            <a:endParaRPr lang="zh-CN" altLang="en-US" sz="1000" b="1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106D99-2075-4E28-A63C-D25FF58BA32D}"/>
              </a:ext>
            </a:extLst>
          </p:cNvPr>
          <p:cNvSpPr txBox="1"/>
          <p:nvPr/>
        </p:nvSpPr>
        <p:spPr>
          <a:xfrm>
            <a:off x="1618488" y="3657600"/>
            <a:ext cx="242316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结论与计划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2AA1191-3799-427B-8ABF-96666D1CF2C2}"/>
              </a:ext>
            </a:extLst>
          </p:cNvPr>
          <p:cNvSpPr txBox="1"/>
          <p:nvPr/>
        </p:nvSpPr>
        <p:spPr>
          <a:xfrm>
            <a:off x="1618488" y="3913632"/>
            <a:ext cx="2834640" cy="21287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当前结论和下一步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9E90E59-481C-45A0-953B-4DB057BAA3C7}"/>
              </a:ext>
            </a:extLst>
          </p:cNvPr>
          <p:cNvSpPr txBox="1"/>
          <p:nvPr/>
        </p:nvSpPr>
        <p:spPr>
          <a:xfrm>
            <a:off x="4956048" y="3730752"/>
            <a:ext cx="59436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40979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27-28</a:t>
            </a:r>
            <a:endParaRPr lang="zh-CN" altLang="en-US" sz="1000" b="1">
              <a:solidFill>
                <a:srgbClr val="40979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AF852C8-71D4-446B-BF8F-CB3DE3094737}"/>
              </a:ext>
            </a:extLst>
          </p:cNvPr>
          <p:cNvSpPr/>
          <p:nvPr/>
        </p:nvSpPr>
        <p:spPr>
          <a:xfrm>
            <a:off x="6419088" y="3511296"/>
            <a:ext cx="507492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DA21E84-82E0-456E-AED1-8F94DCB738F2}"/>
              </a:ext>
            </a:extLst>
          </p:cNvPr>
          <p:cNvSpPr/>
          <p:nvPr/>
        </p:nvSpPr>
        <p:spPr>
          <a:xfrm>
            <a:off x="6583680" y="3675888"/>
            <a:ext cx="502920" cy="329184"/>
          </a:xfrm>
          <a:prstGeom prst="roundRect">
            <a:avLst/>
          </a:prstGeom>
          <a:solidFill>
            <a:srgbClr val="576F8C"/>
          </a:solidFill>
          <a:ln w="3810">
            <a:solidFill>
              <a:srgbClr val="576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D25992F-A2F9-4D9C-8C11-9F7970C7A0BD}"/>
              </a:ext>
            </a:extLst>
          </p:cNvPr>
          <p:cNvSpPr txBox="1"/>
          <p:nvPr/>
        </p:nvSpPr>
        <p:spPr>
          <a:xfrm>
            <a:off x="6583680" y="3739896"/>
            <a:ext cx="50292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A</a:t>
            </a:r>
            <a:endParaRPr lang="zh-CN" altLang="en-US" sz="1000" b="1">
              <a:solidFill>
                <a:srgbClr val="FFFFF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52D1928-C71F-4D41-AD38-542A0C1E8C7C}"/>
              </a:ext>
            </a:extLst>
          </p:cNvPr>
          <p:cNvSpPr txBox="1"/>
          <p:nvPr/>
        </p:nvSpPr>
        <p:spPr>
          <a:xfrm>
            <a:off x="7287768" y="3657600"/>
            <a:ext cx="2423160" cy="28212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附录速查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282E87D-7514-46BB-8696-4E53BC789972}"/>
              </a:ext>
            </a:extLst>
          </p:cNvPr>
          <p:cNvSpPr txBox="1"/>
          <p:nvPr/>
        </p:nvSpPr>
        <p:spPr>
          <a:xfrm>
            <a:off x="7287768" y="3913632"/>
            <a:ext cx="2834640" cy="21287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05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参数、字段和记录项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DE9D682-E5A5-4C9F-8272-7387BBE8316F}"/>
              </a:ext>
            </a:extLst>
          </p:cNvPr>
          <p:cNvSpPr txBox="1"/>
          <p:nvPr/>
        </p:nvSpPr>
        <p:spPr>
          <a:xfrm>
            <a:off x="10625328" y="3730752"/>
            <a:ext cx="594360" cy="205184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29+</a:t>
            </a:r>
            <a:endParaRPr lang="zh-CN" altLang="en-US" sz="1000" b="1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1055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8222A9-1255-4FC0-A7BB-AEEC8CB0C1E2}"/>
              </a:ext>
            </a:extLst>
          </p:cNvPr>
          <p:cNvSpPr txBox="1"/>
          <p:nvPr/>
        </p:nvSpPr>
        <p:spPr>
          <a:xfrm>
            <a:off x="786384" y="1508760"/>
            <a:ext cx="1188720" cy="48218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2800" b="1">
                <a:solidFill>
                  <a:srgbClr val="F29E2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01</a:t>
            </a:r>
            <a:endParaRPr lang="zh-CN" altLang="en-US" sz="2800" b="1">
              <a:solidFill>
                <a:srgbClr val="F29E2F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AA8929-17AC-4AFF-A0BF-483B39904BE5}"/>
              </a:ext>
            </a:extLst>
          </p:cNvPr>
          <p:cNvSpPr txBox="1"/>
          <p:nvPr/>
        </p:nvSpPr>
        <p:spPr>
          <a:xfrm>
            <a:off x="786384" y="2057400"/>
            <a:ext cx="4572000" cy="69762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理论分析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BAD37F-99A4-41EE-9B67-29C6D284E01C}"/>
              </a:ext>
            </a:extLst>
          </p:cNvPr>
          <p:cNvSpPr txBox="1"/>
          <p:nvPr/>
        </p:nvSpPr>
        <p:spPr>
          <a:xfrm>
            <a:off x="822960" y="2788920"/>
            <a:ext cx="6583680" cy="328295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把手册对象、接口和时序落到后续测试信号。</a:t>
            </a:r>
          </a:p>
        </p:txBody>
      </p:sp>
    </p:spTree>
    <p:extLst>
      <p:ext uri="{BB962C8B-B14F-4D97-AF65-F5344CB8AC3E}">
        <p14:creationId xmlns:p14="http://schemas.microsoft.com/office/powerpoint/2010/main" val="340144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96429F-9E37-4BE0-9E8A-85E2AD71A254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每页只保留一个判断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A59DAC-CAB1-4C2E-9B66-8DBA823B1B31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正文页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FEF3E3-04DB-4C56-B934-261FBB9573E5}"/>
              </a:ext>
            </a:extLst>
          </p:cNvPr>
          <p:cNvSpPr txBox="1"/>
          <p:nvPr/>
        </p:nvSpPr>
        <p:spPr>
          <a:xfrm>
            <a:off x="640080" y="1078992"/>
            <a:ext cx="9326880" cy="3590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2000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结论先行，正文只解释依据和边界。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B5B5F6-D573-4E7C-9312-DA6C55F9EDB4}"/>
              </a:ext>
            </a:extLst>
          </p:cNvPr>
          <p:cNvSpPr/>
          <p:nvPr/>
        </p:nvSpPr>
        <p:spPr>
          <a:xfrm>
            <a:off x="777240" y="1691640"/>
            <a:ext cx="3246120" cy="914400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BE6F1C-09E6-48D4-8B3A-F782B97F4E40}"/>
              </a:ext>
            </a:extLst>
          </p:cNvPr>
          <p:cNvSpPr/>
          <p:nvPr/>
        </p:nvSpPr>
        <p:spPr>
          <a:xfrm>
            <a:off x="777240" y="1691640"/>
            <a:ext cx="73152" cy="914400"/>
          </a:xfrm>
          <a:prstGeom prst="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7532CB-34A8-4526-8008-A126AA0403E2}"/>
              </a:ext>
            </a:extLst>
          </p:cNvPr>
          <p:cNvSpPr txBox="1"/>
          <p:nvPr/>
        </p:nvSpPr>
        <p:spPr>
          <a:xfrm>
            <a:off x="932688" y="1783080"/>
            <a:ext cx="29992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现象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19DBECD-6461-4127-A29D-B2AC71002EA2}"/>
              </a:ext>
            </a:extLst>
          </p:cNvPr>
          <p:cNvSpPr txBox="1"/>
          <p:nvPr/>
        </p:nvSpPr>
        <p:spPr>
          <a:xfrm>
            <a:off x="932688" y="2075688"/>
            <a:ext cx="29992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这里写实验或调试中直接看到的现象。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66B7A41-0748-40CC-828E-A5F57BDF472C}"/>
              </a:ext>
            </a:extLst>
          </p:cNvPr>
          <p:cNvSpPr/>
          <p:nvPr/>
        </p:nvSpPr>
        <p:spPr>
          <a:xfrm>
            <a:off x="4480560" y="1691640"/>
            <a:ext cx="3246120" cy="914400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542EFC-0628-4DE3-99A3-AACDFC2A8E8B}"/>
              </a:ext>
            </a:extLst>
          </p:cNvPr>
          <p:cNvSpPr/>
          <p:nvPr/>
        </p:nvSpPr>
        <p:spPr>
          <a:xfrm>
            <a:off x="4480560" y="1691640"/>
            <a:ext cx="73152" cy="914400"/>
          </a:xfrm>
          <a:prstGeom prst="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14ED2F-5229-4F82-841C-4E01B65155D4}"/>
              </a:ext>
            </a:extLst>
          </p:cNvPr>
          <p:cNvSpPr txBox="1"/>
          <p:nvPr/>
        </p:nvSpPr>
        <p:spPr>
          <a:xfrm>
            <a:off x="4636008" y="1783080"/>
            <a:ext cx="29992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依据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7C508A-DD8E-47C1-ABC1-145684AD2E3E}"/>
              </a:ext>
            </a:extLst>
          </p:cNvPr>
          <p:cNvSpPr txBox="1"/>
          <p:nvPr/>
        </p:nvSpPr>
        <p:spPr>
          <a:xfrm>
            <a:off x="4636008" y="2075688"/>
            <a:ext cx="29992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这里写手册、仿真、</a:t>
            </a:r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ILA</a:t>
            </a:r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、曲线或日志依据。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69A3296-DFBF-4094-B4F4-14C771DD3D59}"/>
              </a:ext>
            </a:extLst>
          </p:cNvPr>
          <p:cNvSpPr/>
          <p:nvPr/>
        </p:nvSpPr>
        <p:spPr>
          <a:xfrm>
            <a:off x="8183880" y="1691640"/>
            <a:ext cx="3246120" cy="914400"/>
          </a:xfrm>
          <a:prstGeom prst="roundRect">
            <a:avLst/>
          </a:prstGeom>
          <a:solidFill>
            <a:srgbClr val="E0F6F7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5D345C-AA11-407B-B216-1D14A1544754}"/>
              </a:ext>
            </a:extLst>
          </p:cNvPr>
          <p:cNvSpPr/>
          <p:nvPr/>
        </p:nvSpPr>
        <p:spPr>
          <a:xfrm>
            <a:off x="8183880" y="1691640"/>
            <a:ext cx="73152" cy="914400"/>
          </a:xfrm>
          <a:prstGeom prst="rect">
            <a:avLst/>
          </a:prstGeom>
          <a:solidFill>
            <a:srgbClr val="40979C"/>
          </a:solidFill>
          <a:ln w="3810">
            <a:solidFill>
              <a:srgbClr val="409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5A27D1-FF16-40B4-8777-937294CD2427}"/>
              </a:ext>
            </a:extLst>
          </p:cNvPr>
          <p:cNvSpPr txBox="1"/>
          <p:nvPr/>
        </p:nvSpPr>
        <p:spPr>
          <a:xfrm>
            <a:off x="8339328" y="1783080"/>
            <a:ext cx="29992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当前结论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61A466-AEC1-4E48-BFD4-3C5E6043A180}"/>
              </a:ext>
            </a:extLst>
          </p:cNvPr>
          <p:cNvSpPr txBox="1"/>
          <p:nvPr/>
        </p:nvSpPr>
        <p:spPr>
          <a:xfrm>
            <a:off x="8339328" y="2075688"/>
            <a:ext cx="29992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只写本页证据能支持的判断。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0DF8A70-632D-4349-AD41-1F1DCF7C7651}"/>
              </a:ext>
            </a:extLst>
          </p:cNvPr>
          <p:cNvSpPr/>
          <p:nvPr/>
        </p:nvSpPr>
        <p:spPr>
          <a:xfrm>
            <a:off x="777240" y="3063240"/>
            <a:ext cx="106527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5D940B-8692-465D-8089-CD171677BDA6}"/>
              </a:ext>
            </a:extLst>
          </p:cNvPr>
          <p:cNvSpPr txBox="1"/>
          <p:nvPr/>
        </p:nvSpPr>
        <p:spPr>
          <a:xfrm>
            <a:off x="1005840" y="3401568"/>
            <a:ext cx="10149840" cy="66684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正文建议：</a:t>
            </a:r>
            <a:r>
              <a:rPr lang="en-US" altLang="zh-CN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3-5 </a:t>
            </a:r>
            <a:r>
              <a:rPr lang="zh-CN" altLang="en-US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条短句；避免长段落；不要把配置链、</a:t>
            </a:r>
            <a:r>
              <a:rPr lang="en-US" altLang="zh-CN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Ctest</a:t>
            </a:r>
            <a:r>
              <a:rPr lang="zh-CN" altLang="en-US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、</a:t>
            </a:r>
            <a:r>
              <a:rPr lang="en-US" altLang="zh-CN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ADC readout </a:t>
            </a:r>
            <a:r>
              <a:rPr lang="zh-CN" altLang="en-US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和 </a:t>
            </a:r>
            <a:r>
              <a:rPr lang="en-US" altLang="zh-CN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USB </a:t>
            </a:r>
            <a:r>
              <a:rPr lang="zh-CN" altLang="en-US" sz="20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上传链混成一个结论。</a:t>
            </a:r>
          </a:p>
        </p:txBody>
      </p:sp>
    </p:spTree>
    <p:extLst>
      <p:ext uri="{BB962C8B-B14F-4D97-AF65-F5344CB8AC3E}">
        <p14:creationId xmlns:p14="http://schemas.microsoft.com/office/powerpoint/2010/main" val="305597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BD6917-8FFC-4D43-93B2-D567EEB13CD3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图像页优先让证据变大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BB3560-D71A-4A69-A4C6-405B72483270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图文页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6B2EFE-7CF6-444B-B6BC-1C929DFE43BA}"/>
              </a:ext>
            </a:extLst>
          </p:cNvPr>
          <p:cNvSpPr/>
          <p:nvPr/>
        </p:nvSpPr>
        <p:spPr>
          <a:xfrm>
            <a:off x="685800" y="1170432"/>
            <a:ext cx="69037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BE760A5-6F4C-4F54-87F2-289F6971AF4B}"/>
              </a:ext>
            </a:extLst>
          </p:cNvPr>
          <p:cNvCxnSpPr/>
          <p:nvPr/>
        </p:nvCxnSpPr>
        <p:spPr>
          <a:xfrm>
            <a:off x="850392" y="1335024"/>
            <a:ext cx="6574536" cy="437997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BA0BD1F-9F3F-4DE0-B30C-B55696F68ED1}"/>
              </a:ext>
            </a:extLst>
          </p:cNvPr>
          <p:cNvCxnSpPr/>
          <p:nvPr/>
        </p:nvCxnSpPr>
        <p:spPr>
          <a:xfrm flipH="1">
            <a:off x="850392" y="1335024"/>
            <a:ext cx="6574536" cy="437997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4052F1E-63F6-40FA-BEC4-3CB7CAD5255A}"/>
              </a:ext>
            </a:extLst>
          </p:cNvPr>
          <p:cNvSpPr txBox="1"/>
          <p:nvPr/>
        </p:nvSpPr>
        <p:spPr>
          <a:xfrm>
            <a:off x="685800" y="3387852"/>
            <a:ext cx="6903720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主图 </a:t>
            </a:r>
            <a:r>
              <a:rPr lang="en-US" altLang="zh-CN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</a:t>
            </a:r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截图 </a:t>
            </a:r>
            <a:r>
              <a:rPr lang="en-US" altLang="zh-CN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</a:t>
            </a:r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曲线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4F6430-A0E6-4574-BC46-8B35FE407D14}"/>
              </a:ext>
            </a:extLst>
          </p:cNvPr>
          <p:cNvSpPr/>
          <p:nvPr/>
        </p:nvSpPr>
        <p:spPr>
          <a:xfrm>
            <a:off x="7909560" y="1325880"/>
            <a:ext cx="3383279" cy="868680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3FC77F-53F8-4EE6-86F6-C51865A561D8}"/>
              </a:ext>
            </a:extLst>
          </p:cNvPr>
          <p:cNvSpPr/>
          <p:nvPr/>
        </p:nvSpPr>
        <p:spPr>
          <a:xfrm>
            <a:off x="7909560" y="1325880"/>
            <a:ext cx="73152" cy="868680"/>
          </a:xfrm>
          <a:prstGeom prst="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7571F8-92D6-4E13-B31D-01D967FF72EE}"/>
              </a:ext>
            </a:extLst>
          </p:cNvPr>
          <p:cNvSpPr txBox="1"/>
          <p:nvPr/>
        </p:nvSpPr>
        <p:spPr>
          <a:xfrm>
            <a:off x="8065008" y="1417320"/>
            <a:ext cx="313639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判断 </a:t>
            </a:r>
            <a:r>
              <a:rPr lang="en-US" altLang="zh-CN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1</a:t>
            </a:r>
            <a:endParaRPr lang="zh-CN" altLang="en-US" sz="16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B402A9-14C9-4EB8-BE39-70F3B291341C}"/>
              </a:ext>
            </a:extLst>
          </p:cNvPr>
          <p:cNvSpPr txBox="1"/>
          <p:nvPr/>
        </p:nvSpPr>
        <p:spPr>
          <a:xfrm>
            <a:off x="8065008" y="1709928"/>
            <a:ext cx="313639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这张图说明的第一件事。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7EFCD27-4CC7-4EEB-9F04-95FDAD454DD7}"/>
              </a:ext>
            </a:extLst>
          </p:cNvPr>
          <p:cNvSpPr/>
          <p:nvPr/>
        </p:nvSpPr>
        <p:spPr>
          <a:xfrm>
            <a:off x="7909560" y="2423160"/>
            <a:ext cx="3383279" cy="868680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A942FD-05DF-4CAE-8BAC-161F4BE13BD3}"/>
              </a:ext>
            </a:extLst>
          </p:cNvPr>
          <p:cNvSpPr/>
          <p:nvPr/>
        </p:nvSpPr>
        <p:spPr>
          <a:xfrm>
            <a:off x="7909560" y="2423160"/>
            <a:ext cx="73152" cy="868680"/>
          </a:xfrm>
          <a:prstGeom prst="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EA62D-1145-470B-AD12-D4C15A9568E2}"/>
              </a:ext>
            </a:extLst>
          </p:cNvPr>
          <p:cNvSpPr txBox="1"/>
          <p:nvPr/>
        </p:nvSpPr>
        <p:spPr>
          <a:xfrm>
            <a:off x="8065008" y="2514600"/>
            <a:ext cx="313639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判断 </a:t>
            </a:r>
            <a:r>
              <a:rPr lang="en-US" altLang="zh-CN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2</a:t>
            </a:r>
            <a:endParaRPr lang="zh-CN" altLang="en-US" sz="16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EC4CA4-D1B4-43A3-9938-5062CC3D9B46}"/>
              </a:ext>
            </a:extLst>
          </p:cNvPr>
          <p:cNvSpPr txBox="1"/>
          <p:nvPr/>
        </p:nvSpPr>
        <p:spPr>
          <a:xfrm>
            <a:off x="8065008" y="2807208"/>
            <a:ext cx="313639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这张图说明的第二件事。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7B0B5A-CF21-416F-83C4-92C8D403911C}"/>
              </a:ext>
            </a:extLst>
          </p:cNvPr>
          <p:cNvSpPr/>
          <p:nvPr/>
        </p:nvSpPr>
        <p:spPr>
          <a:xfrm>
            <a:off x="7909560" y="3520440"/>
            <a:ext cx="3383279" cy="868680"/>
          </a:xfrm>
          <a:prstGeom prst="roundRect">
            <a:avLst/>
          </a:prstGeom>
          <a:solidFill>
            <a:srgbClr val="FFF3D1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47B435-696A-4005-9175-7A6AA8BA4EB6}"/>
              </a:ext>
            </a:extLst>
          </p:cNvPr>
          <p:cNvSpPr/>
          <p:nvPr/>
        </p:nvSpPr>
        <p:spPr>
          <a:xfrm>
            <a:off x="7909560" y="3520440"/>
            <a:ext cx="73152" cy="868680"/>
          </a:xfrm>
          <a:prstGeom prst="rect">
            <a:avLst/>
          </a:prstGeom>
          <a:solidFill>
            <a:srgbClr val="F29E2F"/>
          </a:solidFill>
          <a:ln w="381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1DA1844-07C7-4D3B-8342-427BD40E5963}"/>
              </a:ext>
            </a:extLst>
          </p:cNvPr>
          <p:cNvSpPr txBox="1"/>
          <p:nvPr/>
        </p:nvSpPr>
        <p:spPr>
          <a:xfrm>
            <a:off x="8065008" y="3611880"/>
            <a:ext cx="313639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边界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DD5981-B413-4FF9-B7AB-205FA657FE5F}"/>
              </a:ext>
            </a:extLst>
          </p:cNvPr>
          <p:cNvSpPr txBox="1"/>
          <p:nvPr/>
        </p:nvSpPr>
        <p:spPr>
          <a:xfrm>
            <a:off x="8065008" y="3904488"/>
            <a:ext cx="313639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这张图还不能证明什么。</a:t>
            </a:r>
          </a:p>
        </p:txBody>
      </p:sp>
    </p:spTree>
    <p:extLst>
      <p:ext uri="{BB962C8B-B14F-4D97-AF65-F5344CB8AC3E}">
        <p14:creationId xmlns:p14="http://schemas.microsoft.com/office/powerpoint/2010/main" val="3990585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EFDF72-4B80-442E-8F55-C5DE45D3B25E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硬件问题页按现象、依据、处理和结论组织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77D654-41CF-4D8E-B5A9-C5C515C3F808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硬件问题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9D9CBEE-9503-4191-BB72-75792DD768D7}"/>
              </a:ext>
            </a:extLst>
          </p:cNvPr>
          <p:cNvSpPr/>
          <p:nvPr/>
        </p:nvSpPr>
        <p:spPr>
          <a:xfrm>
            <a:off x="685800" y="1207008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718996E-D5E4-4F9D-99D2-3FE3192FF875}"/>
              </a:ext>
            </a:extLst>
          </p:cNvPr>
          <p:cNvCxnSpPr/>
          <p:nvPr/>
        </p:nvCxnSpPr>
        <p:spPr>
          <a:xfrm>
            <a:off x="850392" y="1371600"/>
            <a:ext cx="4745736" cy="419709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A0E2FD5-68E4-49DA-BD26-2A7CA24317E9}"/>
              </a:ext>
            </a:extLst>
          </p:cNvPr>
          <p:cNvCxnSpPr/>
          <p:nvPr/>
        </p:nvCxnSpPr>
        <p:spPr>
          <a:xfrm flipH="1">
            <a:off x="850392" y="1371600"/>
            <a:ext cx="4745736" cy="419709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51E0F21-4727-4F6E-ABD0-F4F933FFAA50}"/>
              </a:ext>
            </a:extLst>
          </p:cNvPr>
          <p:cNvSpPr txBox="1"/>
          <p:nvPr/>
        </p:nvSpPr>
        <p:spPr>
          <a:xfrm>
            <a:off x="685800" y="3332988"/>
            <a:ext cx="5074920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照片 </a:t>
            </a:r>
            <a:r>
              <a:rPr lang="en-US" altLang="zh-CN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</a:t>
            </a:r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原理图 </a:t>
            </a:r>
            <a:r>
              <a:rPr lang="en-US" altLang="zh-CN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ILA </a:t>
            </a:r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截图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51FCB09-8C6B-4DE5-9A41-23FF5DF7424D}"/>
              </a:ext>
            </a:extLst>
          </p:cNvPr>
          <p:cNvSpPr/>
          <p:nvPr/>
        </p:nvSpPr>
        <p:spPr>
          <a:xfrm>
            <a:off x="6126480" y="1207008"/>
            <a:ext cx="5074920" cy="731520"/>
          </a:xfrm>
          <a:prstGeom prst="roundRect">
            <a:avLst/>
          </a:prstGeom>
          <a:solidFill>
            <a:srgbClr val="F9DFE1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B02871-26EF-4679-A47C-90793D823074}"/>
              </a:ext>
            </a:extLst>
          </p:cNvPr>
          <p:cNvSpPr/>
          <p:nvPr/>
        </p:nvSpPr>
        <p:spPr>
          <a:xfrm>
            <a:off x="6126480" y="1207008"/>
            <a:ext cx="73152" cy="731520"/>
          </a:xfrm>
          <a:prstGeom prst="rect">
            <a:avLst/>
          </a:prstGeom>
          <a:solidFill>
            <a:srgbClr val="D2393D"/>
          </a:solidFill>
          <a:ln w="3810">
            <a:solidFill>
              <a:srgbClr val="D239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E1AD5B-51AF-4C61-8BDD-A737900F08E2}"/>
              </a:ext>
            </a:extLst>
          </p:cNvPr>
          <p:cNvSpPr txBox="1"/>
          <p:nvPr/>
        </p:nvSpPr>
        <p:spPr>
          <a:xfrm>
            <a:off x="6281928" y="1298448"/>
            <a:ext cx="48280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现象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8E1039-2B54-464E-BB42-C7FD5F0B3798}"/>
              </a:ext>
            </a:extLst>
          </p:cNvPr>
          <p:cNvSpPr txBox="1"/>
          <p:nvPr/>
        </p:nvSpPr>
        <p:spPr>
          <a:xfrm>
            <a:off x="6281928" y="1591056"/>
            <a:ext cx="48280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板级 </a:t>
            </a:r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bring-up </a:t>
            </a:r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中观察到的问题。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CDF8ED-C96A-496E-A3B6-BFA9BCB167C6}"/>
              </a:ext>
            </a:extLst>
          </p:cNvPr>
          <p:cNvSpPr/>
          <p:nvPr/>
        </p:nvSpPr>
        <p:spPr>
          <a:xfrm>
            <a:off x="6126480" y="2148840"/>
            <a:ext cx="5074920" cy="731520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E88F48-7D97-45FF-882B-ED103437A326}"/>
              </a:ext>
            </a:extLst>
          </p:cNvPr>
          <p:cNvSpPr/>
          <p:nvPr/>
        </p:nvSpPr>
        <p:spPr>
          <a:xfrm>
            <a:off x="6126480" y="2148840"/>
            <a:ext cx="73152" cy="731520"/>
          </a:xfrm>
          <a:prstGeom prst="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C679E8-B092-4283-BE01-DD6CBC1C97C1}"/>
              </a:ext>
            </a:extLst>
          </p:cNvPr>
          <p:cNvSpPr txBox="1"/>
          <p:nvPr/>
        </p:nvSpPr>
        <p:spPr>
          <a:xfrm>
            <a:off x="6281928" y="2240280"/>
            <a:ext cx="48280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依据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922157-5F26-45AC-B757-E25A3DAC9169}"/>
              </a:ext>
            </a:extLst>
          </p:cNvPr>
          <p:cNvSpPr txBox="1"/>
          <p:nvPr/>
        </p:nvSpPr>
        <p:spPr>
          <a:xfrm>
            <a:off x="6281928" y="2532888"/>
            <a:ext cx="48280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测量、照片、原理图或手册依据。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9983D48-F6EF-49DA-BA3F-876E21598C1C}"/>
              </a:ext>
            </a:extLst>
          </p:cNvPr>
          <p:cNvSpPr/>
          <p:nvPr/>
        </p:nvSpPr>
        <p:spPr>
          <a:xfrm>
            <a:off x="6126480" y="3090672"/>
            <a:ext cx="5074920" cy="731520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6DAEFF-1B9F-416E-8538-25D5601A28D7}"/>
              </a:ext>
            </a:extLst>
          </p:cNvPr>
          <p:cNvSpPr/>
          <p:nvPr/>
        </p:nvSpPr>
        <p:spPr>
          <a:xfrm>
            <a:off x="6126480" y="3090672"/>
            <a:ext cx="73152" cy="731520"/>
          </a:xfrm>
          <a:prstGeom prst="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434A52-9681-4830-A9E3-4B6F53F52231}"/>
              </a:ext>
            </a:extLst>
          </p:cNvPr>
          <p:cNvSpPr txBox="1"/>
          <p:nvPr/>
        </p:nvSpPr>
        <p:spPr>
          <a:xfrm>
            <a:off x="6281928" y="3182112"/>
            <a:ext cx="48280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处理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4ED5FE-EC4A-4FF4-89A0-7A978C9E4115}"/>
              </a:ext>
            </a:extLst>
          </p:cNvPr>
          <p:cNvSpPr txBox="1"/>
          <p:nvPr/>
        </p:nvSpPr>
        <p:spPr>
          <a:xfrm>
            <a:off x="6281928" y="3474720"/>
            <a:ext cx="48280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实际采取的修复或隔离动作。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AA526F8-4747-4CD5-9484-EC43CEAFF63A}"/>
              </a:ext>
            </a:extLst>
          </p:cNvPr>
          <p:cNvSpPr/>
          <p:nvPr/>
        </p:nvSpPr>
        <p:spPr>
          <a:xfrm>
            <a:off x="6126480" y="4032504"/>
            <a:ext cx="5074920" cy="731520"/>
          </a:xfrm>
          <a:prstGeom prst="roundRect">
            <a:avLst/>
          </a:prstGeom>
          <a:solidFill>
            <a:srgbClr val="E0F6F7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A3329C-50B8-42D5-82C0-07321D33A0E7}"/>
              </a:ext>
            </a:extLst>
          </p:cNvPr>
          <p:cNvSpPr/>
          <p:nvPr/>
        </p:nvSpPr>
        <p:spPr>
          <a:xfrm>
            <a:off x="6126480" y="4032504"/>
            <a:ext cx="73152" cy="731520"/>
          </a:xfrm>
          <a:prstGeom prst="rect">
            <a:avLst/>
          </a:prstGeom>
          <a:solidFill>
            <a:srgbClr val="40979C"/>
          </a:solidFill>
          <a:ln w="3810">
            <a:solidFill>
              <a:srgbClr val="409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4D0095-50A3-4895-8344-40A6FA815F6A}"/>
              </a:ext>
            </a:extLst>
          </p:cNvPr>
          <p:cNvSpPr txBox="1"/>
          <p:nvPr/>
        </p:nvSpPr>
        <p:spPr>
          <a:xfrm>
            <a:off x="6281928" y="4123944"/>
            <a:ext cx="482803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当前结论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64542E-D63F-4B49-88AB-8C67ACB574C4}"/>
              </a:ext>
            </a:extLst>
          </p:cNvPr>
          <p:cNvSpPr txBox="1"/>
          <p:nvPr/>
        </p:nvSpPr>
        <p:spPr>
          <a:xfrm>
            <a:off x="6281928" y="4416552"/>
            <a:ext cx="482803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只写板级前置问题是否解除。</a:t>
            </a:r>
          </a:p>
        </p:txBody>
      </p:sp>
    </p:spTree>
    <p:extLst>
      <p:ext uri="{BB962C8B-B14F-4D97-AF65-F5344CB8AC3E}">
        <p14:creationId xmlns:p14="http://schemas.microsoft.com/office/powerpoint/2010/main" val="20165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757362-8269-4098-8C5A-B85249ECA076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ILA </a:t>
            </a:r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结果页只突出关键窗口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1BB93D-18E7-4F8C-8961-7493792FF022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上板测试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B933BEC-CC3C-484C-8841-71D12D76BC91}"/>
              </a:ext>
            </a:extLst>
          </p:cNvPr>
          <p:cNvSpPr/>
          <p:nvPr/>
        </p:nvSpPr>
        <p:spPr>
          <a:xfrm>
            <a:off x="685800" y="1124712"/>
            <a:ext cx="10835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9CFFF35-4736-4D82-B6D5-0DF87524EDD9}"/>
              </a:ext>
            </a:extLst>
          </p:cNvPr>
          <p:cNvCxnSpPr/>
          <p:nvPr/>
        </p:nvCxnSpPr>
        <p:spPr>
          <a:xfrm>
            <a:off x="850392" y="1289304"/>
            <a:ext cx="10506456" cy="360273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D1BE841-2E43-4E86-8E1D-384F1E74E9CA}"/>
              </a:ext>
            </a:extLst>
          </p:cNvPr>
          <p:cNvCxnSpPr/>
          <p:nvPr/>
        </p:nvCxnSpPr>
        <p:spPr>
          <a:xfrm flipH="1">
            <a:off x="850392" y="1289304"/>
            <a:ext cx="10506456" cy="360273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604C710-580C-437B-84B4-13A5C8DD4607}"/>
              </a:ext>
            </a:extLst>
          </p:cNvPr>
          <p:cNvSpPr txBox="1"/>
          <p:nvPr/>
        </p:nvSpPr>
        <p:spPr>
          <a:xfrm>
            <a:off x="685800" y="2953512"/>
            <a:ext cx="10835640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ILA / Waveform Screenshot</a:t>
            </a:r>
            <a:endParaRPr lang="zh-CN" altLang="en-US" sz="1600" b="1">
              <a:solidFill>
                <a:srgbClr val="576F8C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504D3B1-E6EA-441F-B025-2383B595FBFE}"/>
              </a:ext>
            </a:extLst>
          </p:cNvPr>
          <p:cNvSpPr/>
          <p:nvPr/>
        </p:nvSpPr>
        <p:spPr>
          <a:xfrm>
            <a:off x="822960" y="5230368"/>
            <a:ext cx="3337560" cy="713232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E9A592-7281-4BEA-9AD1-30F18F9110BE}"/>
              </a:ext>
            </a:extLst>
          </p:cNvPr>
          <p:cNvSpPr/>
          <p:nvPr/>
        </p:nvSpPr>
        <p:spPr>
          <a:xfrm>
            <a:off x="822960" y="5230368"/>
            <a:ext cx="73152" cy="713232"/>
          </a:xfrm>
          <a:prstGeom prst="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7F5C99-1980-49ED-8404-66A8656A069B}"/>
              </a:ext>
            </a:extLst>
          </p:cNvPr>
          <p:cNvSpPr txBox="1"/>
          <p:nvPr/>
        </p:nvSpPr>
        <p:spPr>
          <a:xfrm>
            <a:off x="978408" y="5321808"/>
            <a:ext cx="309067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观测点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5FC61A-EB4E-4190-99DF-0FE16E66B38F}"/>
              </a:ext>
            </a:extLst>
          </p:cNvPr>
          <p:cNvSpPr txBox="1"/>
          <p:nvPr/>
        </p:nvSpPr>
        <p:spPr>
          <a:xfrm>
            <a:off x="978408" y="5614416"/>
            <a:ext cx="309067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写清楚 </a:t>
            </a:r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preset</a:t>
            </a:r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、触发条件和信号。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8094DE2-41BA-4685-BAC4-950E7AD3D0BD}"/>
              </a:ext>
            </a:extLst>
          </p:cNvPr>
          <p:cNvSpPr/>
          <p:nvPr/>
        </p:nvSpPr>
        <p:spPr>
          <a:xfrm>
            <a:off x="4434840" y="5230368"/>
            <a:ext cx="3337560" cy="713232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F415A1-771D-4F1B-A9BF-2E6359500704}"/>
              </a:ext>
            </a:extLst>
          </p:cNvPr>
          <p:cNvSpPr/>
          <p:nvPr/>
        </p:nvSpPr>
        <p:spPr>
          <a:xfrm>
            <a:off x="4434840" y="5230368"/>
            <a:ext cx="73152" cy="713232"/>
          </a:xfrm>
          <a:prstGeom prst="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988B5B-9DF8-4A37-ABBF-255299E6522D}"/>
              </a:ext>
            </a:extLst>
          </p:cNvPr>
          <p:cNvSpPr txBox="1"/>
          <p:nvPr/>
        </p:nvSpPr>
        <p:spPr>
          <a:xfrm>
            <a:off x="4590288" y="5321808"/>
            <a:ext cx="309067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D8A672-9530-44F9-931A-28995C09832A}"/>
              </a:ext>
            </a:extLst>
          </p:cNvPr>
          <p:cNvSpPr txBox="1"/>
          <p:nvPr/>
        </p:nvSpPr>
        <p:spPr>
          <a:xfrm>
            <a:off x="4590288" y="5614416"/>
            <a:ext cx="309067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写清楚看到了什么。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ADC6CFA-B7BF-4FE7-B989-399A13CCBB97}"/>
              </a:ext>
            </a:extLst>
          </p:cNvPr>
          <p:cNvSpPr/>
          <p:nvPr/>
        </p:nvSpPr>
        <p:spPr>
          <a:xfrm>
            <a:off x="8046720" y="5230368"/>
            <a:ext cx="3337560" cy="713232"/>
          </a:xfrm>
          <a:prstGeom prst="roundRect">
            <a:avLst/>
          </a:prstGeom>
          <a:solidFill>
            <a:srgbClr val="FFF3D1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CEFE5-8B51-420F-A8A6-EDCAE1FFA528}"/>
              </a:ext>
            </a:extLst>
          </p:cNvPr>
          <p:cNvSpPr/>
          <p:nvPr/>
        </p:nvSpPr>
        <p:spPr>
          <a:xfrm>
            <a:off x="8046720" y="5230368"/>
            <a:ext cx="73152" cy="713232"/>
          </a:xfrm>
          <a:prstGeom prst="rect">
            <a:avLst/>
          </a:prstGeom>
          <a:solidFill>
            <a:srgbClr val="F29E2F"/>
          </a:solidFill>
          <a:ln w="381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43A62A-BCCD-4898-8418-F92FC075B0D9}"/>
              </a:ext>
            </a:extLst>
          </p:cNvPr>
          <p:cNvSpPr txBox="1"/>
          <p:nvPr/>
        </p:nvSpPr>
        <p:spPr>
          <a:xfrm>
            <a:off x="8202168" y="5321808"/>
            <a:ext cx="309067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边界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449C0B-6AB8-4936-8AC6-7156217B15E6}"/>
              </a:ext>
            </a:extLst>
          </p:cNvPr>
          <p:cNvSpPr txBox="1"/>
          <p:nvPr/>
        </p:nvSpPr>
        <p:spPr>
          <a:xfrm>
            <a:off x="8202168" y="5614416"/>
            <a:ext cx="309067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写清楚还缺什么截图或测试。</a:t>
            </a:r>
          </a:p>
        </p:txBody>
      </p:sp>
    </p:spTree>
    <p:extLst>
      <p:ext uri="{BB962C8B-B14F-4D97-AF65-F5344CB8AC3E}">
        <p14:creationId xmlns:p14="http://schemas.microsoft.com/office/powerpoint/2010/main" val="315823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023417-3147-4E9A-BE9F-EF1B746CAE9D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时序图使用可编辑 </a:t>
            </a:r>
            <a:r>
              <a:rPr lang="en-US" altLang="zh-CN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lane </a:t>
            </a:r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表达采样关系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A680B6-95DA-47E7-8E0C-B4C66DF99AAF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时序图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E4AC289-3C8C-4152-B018-2642E10CC76E}"/>
              </a:ext>
            </a:extLst>
          </p:cNvPr>
          <p:cNvCxnSpPr/>
          <p:nvPr/>
        </p:nvCxnSpPr>
        <p:spPr>
          <a:xfrm>
            <a:off x="1920240" y="155448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76D64EF-E8CD-4BA9-BE43-C3C0CDCF64D7}"/>
              </a:ext>
            </a:extLst>
          </p:cNvPr>
          <p:cNvSpPr txBox="1"/>
          <p:nvPr/>
        </p:nvSpPr>
        <p:spPr>
          <a:xfrm>
            <a:off x="713232" y="144475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Input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F28DD9-CD65-4227-A02E-6C7D88DDBD2F}"/>
              </a:ext>
            </a:extLst>
          </p:cNvPr>
          <p:cNvCxnSpPr/>
          <p:nvPr/>
        </p:nvCxnSpPr>
        <p:spPr>
          <a:xfrm>
            <a:off x="1920240" y="201168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03182D6-2E03-4592-A8CB-B5E491B280AA}"/>
              </a:ext>
            </a:extLst>
          </p:cNvPr>
          <p:cNvSpPr txBox="1"/>
          <p:nvPr/>
        </p:nvSpPr>
        <p:spPr>
          <a:xfrm>
            <a:off x="713232" y="190195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Fast Shaper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44D134F-9FB4-43EF-BB56-349C0D29445C}"/>
              </a:ext>
            </a:extLst>
          </p:cNvPr>
          <p:cNvCxnSpPr/>
          <p:nvPr/>
        </p:nvCxnSpPr>
        <p:spPr>
          <a:xfrm>
            <a:off x="1920240" y="246888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AB7D6D-E2FC-47BF-8C69-54C41EDF3201}"/>
              </a:ext>
            </a:extLst>
          </p:cNvPr>
          <p:cNvSpPr txBox="1"/>
          <p:nvPr/>
        </p:nvSpPr>
        <p:spPr>
          <a:xfrm>
            <a:off x="713232" y="235915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OR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C1692A-E1C3-4703-B227-5A44F7222032}"/>
              </a:ext>
            </a:extLst>
          </p:cNvPr>
          <p:cNvCxnSpPr/>
          <p:nvPr/>
        </p:nvCxnSpPr>
        <p:spPr>
          <a:xfrm>
            <a:off x="1920240" y="297180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04A80F6-BA18-4F98-963E-8BB95A9F4B6F}"/>
              </a:ext>
            </a:extLst>
          </p:cNvPr>
          <p:cNvSpPr txBox="1"/>
          <p:nvPr/>
        </p:nvSpPr>
        <p:spPr>
          <a:xfrm>
            <a:off x="713232" y="286207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Slow Shaper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CD904A3-DF8B-4AD6-B266-ADC0D0C80503}"/>
              </a:ext>
            </a:extLst>
          </p:cNvPr>
          <p:cNvCxnSpPr/>
          <p:nvPr/>
        </p:nvCxnSpPr>
        <p:spPr>
          <a:xfrm>
            <a:off x="1920240" y="352044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3723374-6605-4349-B41F-A5F3B58AF3E2}"/>
              </a:ext>
            </a:extLst>
          </p:cNvPr>
          <p:cNvSpPr txBox="1"/>
          <p:nvPr/>
        </p:nvSpPr>
        <p:spPr>
          <a:xfrm>
            <a:off x="713232" y="341071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HOLD1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5EEC5B-D17D-4F4E-910C-22C11530C039}"/>
              </a:ext>
            </a:extLst>
          </p:cNvPr>
          <p:cNvCxnSpPr/>
          <p:nvPr/>
        </p:nvCxnSpPr>
        <p:spPr>
          <a:xfrm>
            <a:off x="1920240" y="406908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5EF5B47-0F00-4FFF-8FF9-9BD85ED757FE}"/>
              </a:ext>
            </a:extLst>
          </p:cNvPr>
          <p:cNvSpPr txBox="1"/>
          <p:nvPr/>
        </p:nvSpPr>
        <p:spPr>
          <a:xfrm>
            <a:off x="713232" y="395935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HOLD2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8885691-9DF9-4011-BECB-18C96E010A4A}"/>
              </a:ext>
            </a:extLst>
          </p:cNvPr>
          <p:cNvCxnSpPr/>
          <p:nvPr/>
        </p:nvCxnSpPr>
        <p:spPr>
          <a:xfrm>
            <a:off x="1920240" y="461772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8F7D212-BC2A-483A-A337-BF487AB68FFD}"/>
              </a:ext>
            </a:extLst>
          </p:cNvPr>
          <p:cNvSpPr txBox="1"/>
          <p:nvPr/>
        </p:nvSpPr>
        <p:spPr>
          <a:xfrm>
            <a:off x="713232" y="450799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start_ADC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2A32A55-FFD7-421D-B27C-204E42C157CA}"/>
              </a:ext>
            </a:extLst>
          </p:cNvPr>
          <p:cNvCxnSpPr/>
          <p:nvPr/>
        </p:nvCxnSpPr>
        <p:spPr>
          <a:xfrm>
            <a:off x="1920240" y="5120640"/>
            <a:ext cx="9235440" cy="0"/>
          </a:xfrm>
          <a:prstGeom prst="straightConnector1">
            <a:avLst/>
          </a:prstGeom>
          <a:ln w="10160">
            <a:solidFill>
              <a:srgbClr val="C6D3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250E514-43D9-45A9-8D88-A88E146E6C0B}"/>
              </a:ext>
            </a:extLst>
          </p:cNvPr>
          <p:cNvSpPr txBox="1"/>
          <p:nvPr/>
        </p:nvSpPr>
        <p:spPr>
          <a:xfrm>
            <a:off x="713232" y="5010912"/>
            <a:ext cx="960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TransmitOn</a:t>
            </a:r>
            <a:endParaRPr lang="zh-CN" altLang="en-US" sz="11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C04133-4075-4ECD-9FBB-BD4F3EB2135F}"/>
              </a:ext>
            </a:extLst>
          </p:cNvPr>
          <p:cNvCxnSpPr/>
          <p:nvPr/>
        </p:nvCxnSpPr>
        <p:spPr>
          <a:xfrm>
            <a:off x="3886200" y="1353312"/>
            <a:ext cx="0" cy="4041648"/>
          </a:xfrm>
          <a:prstGeom prst="straightConnector1">
            <a:avLst/>
          </a:prstGeom>
          <a:ln w="12700">
            <a:solidFill>
              <a:srgbClr val="6F54A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EB2B767-C814-439F-867D-2A465E0627A8}"/>
              </a:ext>
            </a:extLst>
          </p:cNvPr>
          <p:cNvCxnSpPr/>
          <p:nvPr/>
        </p:nvCxnSpPr>
        <p:spPr>
          <a:xfrm>
            <a:off x="5303520" y="1353312"/>
            <a:ext cx="0" cy="4041648"/>
          </a:xfrm>
          <a:prstGeom prst="straightConnector1">
            <a:avLst/>
          </a:prstGeom>
          <a:ln w="12700">
            <a:solidFill>
              <a:srgbClr val="F29E2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032C98F-3914-4C8D-B5CC-66E42C2B4761}"/>
              </a:ext>
            </a:extLst>
          </p:cNvPr>
          <p:cNvCxnSpPr/>
          <p:nvPr/>
        </p:nvCxnSpPr>
        <p:spPr>
          <a:xfrm>
            <a:off x="3886200" y="2788920"/>
            <a:ext cx="6903720" cy="0"/>
          </a:xfrm>
          <a:prstGeom prst="straightConnector1">
            <a:avLst/>
          </a:prstGeom>
          <a:ln w="33020">
            <a:solidFill>
              <a:srgbClr val="6F54AA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C3AD3C4-C4DB-41FE-A9B4-76C7412EF077}"/>
              </a:ext>
            </a:extLst>
          </p:cNvPr>
          <p:cNvCxnSpPr/>
          <p:nvPr/>
        </p:nvCxnSpPr>
        <p:spPr>
          <a:xfrm>
            <a:off x="5303520" y="2487168"/>
            <a:ext cx="5486400" cy="0"/>
          </a:xfrm>
          <a:prstGeom prst="straightConnector1">
            <a:avLst/>
          </a:prstGeom>
          <a:ln w="33020">
            <a:solidFill>
              <a:srgbClr val="F29E2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0F38642-C0AC-48CE-BE4D-A99EFD910E9B}"/>
              </a:ext>
            </a:extLst>
          </p:cNvPr>
          <p:cNvSpPr txBox="1"/>
          <p:nvPr/>
        </p:nvSpPr>
        <p:spPr>
          <a:xfrm>
            <a:off x="5577840" y="2633472"/>
            <a:ext cx="1920240" cy="3898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00" b="1">
                <a:solidFill>
                  <a:srgbClr val="6F54A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SCA2 </a:t>
            </a:r>
            <a:r>
              <a:rPr lang="zh-CN" altLang="en-US" sz="1100" b="1">
                <a:solidFill>
                  <a:srgbClr val="6F54A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从 </a:t>
            </a:r>
            <a:r>
              <a:rPr lang="en-US" altLang="zh-CN" sz="1100" b="1">
                <a:solidFill>
                  <a:srgbClr val="6F54A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HOLD2 </a:t>
            </a:r>
            <a:r>
              <a:rPr lang="zh-CN" altLang="en-US" sz="1100" b="1">
                <a:solidFill>
                  <a:srgbClr val="6F54AA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边沿开始保持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6E4CC6-6F9E-471E-87FF-593BFB5F738A}"/>
              </a:ext>
            </a:extLst>
          </p:cNvPr>
          <p:cNvSpPr txBox="1"/>
          <p:nvPr/>
        </p:nvSpPr>
        <p:spPr>
          <a:xfrm>
            <a:off x="5577840" y="2331720"/>
            <a:ext cx="1920240" cy="389850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00" b="1">
                <a:solidFill>
                  <a:srgbClr val="F29E2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SCA1 </a:t>
            </a:r>
            <a:r>
              <a:rPr lang="zh-CN" altLang="en-US" sz="1100" b="1">
                <a:solidFill>
                  <a:srgbClr val="F29E2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从 </a:t>
            </a:r>
            <a:r>
              <a:rPr lang="en-US" altLang="zh-CN" sz="1100" b="1">
                <a:solidFill>
                  <a:srgbClr val="F29E2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HOLD1 </a:t>
            </a:r>
            <a:r>
              <a:rPr lang="zh-CN" altLang="en-US" sz="1100" b="1">
                <a:solidFill>
                  <a:srgbClr val="F29E2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边沿开始保持</a:t>
            </a:r>
          </a:p>
        </p:txBody>
      </p:sp>
    </p:spTree>
    <p:extLst>
      <p:ext uri="{BB962C8B-B14F-4D97-AF65-F5344CB8AC3E}">
        <p14:creationId xmlns:p14="http://schemas.microsoft.com/office/powerpoint/2010/main" val="108540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44F0C7-1731-4B6A-8489-E620B9691772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结果页同时给出图和可复述指标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95106A-9C2C-4CD9-8329-1843587B1E2B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寄存器行为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611821E-7C94-47A5-A48E-9400A3CC8288}"/>
              </a:ext>
            </a:extLst>
          </p:cNvPr>
          <p:cNvSpPr/>
          <p:nvPr/>
        </p:nvSpPr>
        <p:spPr>
          <a:xfrm>
            <a:off x="685800" y="1188720"/>
            <a:ext cx="6720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A3D7905-3DCD-498B-AF63-7299A6585554}"/>
              </a:ext>
            </a:extLst>
          </p:cNvPr>
          <p:cNvCxnSpPr/>
          <p:nvPr/>
        </p:nvCxnSpPr>
        <p:spPr>
          <a:xfrm>
            <a:off x="850392" y="1353312"/>
            <a:ext cx="6391656" cy="415137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E626137-2D8E-4BAC-ABCA-7DCDA8BE23A2}"/>
              </a:ext>
            </a:extLst>
          </p:cNvPr>
          <p:cNvCxnSpPr/>
          <p:nvPr/>
        </p:nvCxnSpPr>
        <p:spPr>
          <a:xfrm flipH="1">
            <a:off x="850392" y="1353312"/>
            <a:ext cx="6391656" cy="4151376"/>
          </a:xfrm>
          <a:prstGeom prst="straightConnector1">
            <a:avLst/>
          </a:prstGeom>
          <a:ln w="12700">
            <a:solidFill>
              <a:srgbClr val="CDD8E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D5921E8-4FD6-4403-AE8C-420CCFCB051D}"/>
              </a:ext>
            </a:extLst>
          </p:cNvPr>
          <p:cNvSpPr txBox="1"/>
          <p:nvPr/>
        </p:nvSpPr>
        <p:spPr>
          <a:xfrm>
            <a:off x="685800" y="3291840"/>
            <a:ext cx="6720840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曲线 </a:t>
            </a:r>
            <a:r>
              <a:rPr lang="en-US" altLang="zh-CN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 </a:t>
            </a:r>
            <a:r>
              <a:rPr lang="zh-CN" altLang="en-US" sz="1600" b="1">
                <a:solidFill>
                  <a:srgbClr val="576F8C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拟合图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543C177-F9B5-44F0-BDC9-75FD2FD5BBDC}"/>
              </a:ext>
            </a:extLst>
          </p:cNvPr>
          <p:cNvSpPr/>
          <p:nvPr/>
        </p:nvSpPr>
        <p:spPr>
          <a:xfrm>
            <a:off x="7754112" y="1280160"/>
            <a:ext cx="3291840" cy="731520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3C9B25-49F0-47C2-BB74-A1FD243E91A1}"/>
              </a:ext>
            </a:extLst>
          </p:cNvPr>
          <p:cNvSpPr/>
          <p:nvPr/>
        </p:nvSpPr>
        <p:spPr>
          <a:xfrm>
            <a:off x="7754112" y="1280160"/>
            <a:ext cx="73152" cy="731520"/>
          </a:xfrm>
          <a:prstGeom prst="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FC89FC-D370-4C03-9F24-CF6C8A8BDFFD}"/>
              </a:ext>
            </a:extLst>
          </p:cNvPr>
          <p:cNvSpPr txBox="1"/>
          <p:nvPr/>
        </p:nvSpPr>
        <p:spPr>
          <a:xfrm>
            <a:off x="7909560" y="1371600"/>
            <a:ext cx="30449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斜率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D7CA6A-3F53-4179-A596-79A88B880A32}"/>
              </a:ext>
            </a:extLst>
          </p:cNvPr>
          <p:cNvSpPr txBox="1"/>
          <p:nvPr/>
        </p:nvSpPr>
        <p:spPr>
          <a:xfrm>
            <a:off x="7909560" y="1664208"/>
            <a:ext cx="304495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a = ... mV/code</a:t>
            </a:r>
            <a:endParaRPr lang="zh-CN" altLang="en-US" sz="1150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B94F084-D355-4CFC-BC52-B5B1F22A418D}"/>
              </a:ext>
            </a:extLst>
          </p:cNvPr>
          <p:cNvSpPr/>
          <p:nvPr/>
        </p:nvSpPr>
        <p:spPr>
          <a:xfrm>
            <a:off x="7754112" y="2212848"/>
            <a:ext cx="3291840" cy="731520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4C5F33-DAE2-4636-A8C3-BD1F8C716CD0}"/>
              </a:ext>
            </a:extLst>
          </p:cNvPr>
          <p:cNvSpPr/>
          <p:nvPr/>
        </p:nvSpPr>
        <p:spPr>
          <a:xfrm>
            <a:off x="7754112" y="2212848"/>
            <a:ext cx="73152" cy="731520"/>
          </a:xfrm>
          <a:prstGeom prst="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76D097-12E9-4437-96FE-E2A40D7E8345}"/>
              </a:ext>
            </a:extLst>
          </p:cNvPr>
          <p:cNvSpPr txBox="1"/>
          <p:nvPr/>
        </p:nvSpPr>
        <p:spPr>
          <a:xfrm>
            <a:off x="7909560" y="2304288"/>
            <a:ext cx="30449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线性度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99F554-3C81-4DFA-8B90-F3A855D7D5F5}"/>
              </a:ext>
            </a:extLst>
          </p:cNvPr>
          <p:cNvSpPr txBox="1"/>
          <p:nvPr/>
        </p:nvSpPr>
        <p:spPr>
          <a:xfrm>
            <a:off x="7909560" y="2596896"/>
            <a:ext cx="304495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R² = ...</a:t>
            </a:r>
            <a:endParaRPr lang="zh-CN" altLang="en-US" sz="1150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502734C-BE76-40EA-9C36-BC4F9A798D44}"/>
              </a:ext>
            </a:extLst>
          </p:cNvPr>
          <p:cNvSpPr/>
          <p:nvPr/>
        </p:nvSpPr>
        <p:spPr>
          <a:xfrm>
            <a:off x="7754112" y="3145536"/>
            <a:ext cx="3291840" cy="731520"/>
          </a:xfrm>
          <a:prstGeom prst="roundRect">
            <a:avLst/>
          </a:prstGeom>
          <a:solidFill>
            <a:srgbClr val="E0F6F7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3B5A52-F21B-480F-AE11-08665184704B}"/>
              </a:ext>
            </a:extLst>
          </p:cNvPr>
          <p:cNvSpPr/>
          <p:nvPr/>
        </p:nvSpPr>
        <p:spPr>
          <a:xfrm>
            <a:off x="7754112" y="3145536"/>
            <a:ext cx="73152" cy="731520"/>
          </a:xfrm>
          <a:prstGeom prst="rect">
            <a:avLst/>
          </a:prstGeom>
          <a:solidFill>
            <a:srgbClr val="40979C"/>
          </a:solidFill>
          <a:ln w="3810">
            <a:solidFill>
              <a:srgbClr val="409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1D4463-E8FA-464A-9D69-0C7EA29AE6F9}"/>
              </a:ext>
            </a:extLst>
          </p:cNvPr>
          <p:cNvSpPr txBox="1"/>
          <p:nvPr/>
        </p:nvSpPr>
        <p:spPr>
          <a:xfrm>
            <a:off x="7909560" y="3236976"/>
            <a:ext cx="30449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残差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654207-9F79-4366-8C95-46CB1068F566}"/>
              </a:ext>
            </a:extLst>
          </p:cNvPr>
          <p:cNvSpPr txBox="1"/>
          <p:nvPr/>
        </p:nvSpPr>
        <p:spPr>
          <a:xfrm>
            <a:off x="7909560" y="3529584"/>
            <a:ext cx="304495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max residual = ... mV</a:t>
            </a:r>
            <a:endParaRPr lang="zh-CN" altLang="en-US" sz="1150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25D735B-8051-4E4A-BEDA-05B02555FE7F}"/>
              </a:ext>
            </a:extLst>
          </p:cNvPr>
          <p:cNvSpPr/>
          <p:nvPr/>
        </p:nvSpPr>
        <p:spPr>
          <a:xfrm>
            <a:off x="7754112" y="4078224"/>
            <a:ext cx="3291840" cy="731520"/>
          </a:xfrm>
          <a:prstGeom prst="roundRect">
            <a:avLst/>
          </a:prstGeom>
          <a:solidFill>
            <a:srgbClr val="FFF3D1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720BE5-13F2-4041-A3FF-986504632F93}"/>
              </a:ext>
            </a:extLst>
          </p:cNvPr>
          <p:cNvSpPr/>
          <p:nvPr/>
        </p:nvSpPr>
        <p:spPr>
          <a:xfrm>
            <a:off x="7754112" y="4078224"/>
            <a:ext cx="73152" cy="731520"/>
          </a:xfrm>
          <a:prstGeom prst="rect">
            <a:avLst/>
          </a:prstGeom>
          <a:solidFill>
            <a:srgbClr val="F29E2F"/>
          </a:solidFill>
          <a:ln w="381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497FC3-2E6D-4DDD-9E30-E649AD91AD2B}"/>
              </a:ext>
            </a:extLst>
          </p:cNvPr>
          <p:cNvSpPr txBox="1"/>
          <p:nvPr/>
        </p:nvSpPr>
        <p:spPr>
          <a:xfrm>
            <a:off x="7909560" y="4169664"/>
            <a:ext cx="30449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边界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3A4E50-3E4F-48D7-95EE-D9B5D5A53779}"/>
              </a:ext>
            </a:extLst>
          </p:cNvPr>
          <p:cNvSpPr txBox="1"/>
          <p:nvPr/>
        </p:nvSpPr>
        <p:spPr>
          <a:xfrm>
            <a:off x="7909560" y="4462272"/>
            <a:ext cx="304495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本页只说明该寄存器行为。</a:t>
            </a:r>
          </a:p>
        </p:txBody>
      </p:sp>
    </p:spTree>
    <p:extLst>
      <p:ext uri="{BB962C8B-B14F-4D97-AF65-F5344CB8AC3E}">
        <p14:creationId xmlns:p14="http://schemas.microsoft.com/office/powerpoint/2010/main" val="155072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1D617D-8913-4852-8E33-FF0331266F81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结论页保留克制结论和下一步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7466C1-801D-4D24-8165-2EB05F2C70EA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结论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E91B186-0980-428B-A9BA-65B9BABD07DE}"/>
              </a:ext>
            </a:extLst>
          </p:cNvPr>
          <p:cNvSpPr/>
          <p:nvPr/>
        </p:nvSpPr>
        <p:spPr>
          <a:xfrm>
            <a:off x="822960" y="1261872"/>
            <a:ext cx="3520440" cy="1005840"/>
          </a:xfrm>
          <a:prstGeom prst="roundRect">
            <a:avLst/>
          </a:prstGeom>
          <a:solidFill>
            <a:srgbClr val="E8F4E6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1FC4DD-4D97-4CD8-A740-E389798A082B}"/>
              </a:ext>
            </a:extLst>
          </p:cNvPr>
          <p:cNvSpPr/>
          <p:nvPr/>
        </p:nvSpPr>
        <p:spPr>
          <a:xfrm>
            <a:off x="822960" y="1261872"/>
            <a:ext cx="73152" cy="1005840"/>
          </a:xfrm>
          <a:prstGeom prst="rect">
            <a:avLst/>
          </a:prstGeom>
          <a:solidFill>
            <a:srgbClr val="6C9758"/>
          </a:solidFill>
          <a:ln w="3810">
            <a:solidFill>
              <a:srgbClr val="6C97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FC0370-A39E-4A9F-88DC-48B59237AB75}"/>
              </a:ext>
            </a:extLst>
          </p:cNvPr>
          <p:cNvSpPr txBox="1"/>
          <p:nvPr/>
        </p:nvSpPr>
        <p:spPr>
          <a:xfrm>
            <a:off x="978408" y="1353312"/>
            <a:ext cx="32735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当前结论 </a:t>
            </a:r>
            <a:r>
              <a:rPr lang="en-US" altLang="zh-CN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1</a:t>
            </a:r>
            <a:endParaRPr lang="zh-CN" altLang="en-US" sz="16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A63016-25AB-4B54-83A7-B11AB7E310ED}"/>
              </a:ext>
            </a:extLst>
          </p:cNvPr>
          <p:cNvSpPr txBox="1"/>
          <p:nvPr/>
        </p:nvSpPr>
        <p:spPr>
          <a:xfrm>
            <a:off x="978408" y="1645920"/>
            <a:ext cx="327355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写已有仿真、</a:t>
            </a:r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ILA </a:t>
            </a:r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或寄存器行为依据。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AE89648-CA6C-484C-9D78-ADD17EEE4C57}"/>
              </a:ext>
            </a:extLst>
          </p:cNvPr>
          <p:cNvSpPr/>
          <p:nvPr/>
        </p:nvSpPr>
        <p:spPr>
          <a:xfrm>
            <a:off x="4526280" y="1261872"/>
            <a:ext cx="3520440" cy="1005840"/>
          </a:xfrm>
          <a:prstGeom prst="roundRect">
            <a:avLst/>
          </a:prstGeom>
          <a:solidFill>
            <a:srgbClr val="DCEBF9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564842-CA46-40F8-A98F-32FEEB31AAF0}"/>
              </a:ext>
            </a:extLst>
          </p:cNvPr>
          <p:cNvSpPr/>
          <p:nvPr/>
        </p:nvSpPr>
        <p:spPr>
          <a:xfrm>
            <a:off x="4526280" y="1261872"/>
            <a:ext cx="73152" cy="1005840"/>
          </a:xfrm>
          <a:prstGeom prst="rect">
            <a:avLst/>
          </a:prstGeom>
          <a:solidFill>
            <a:srgbClr val="4174BA"/>
          </a:solidFill>
          <a:ln w="3810">
            <a:solidFill>
              <a:srgbClr val="417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803DF4-4C5A-4A9A-BFC5-D8B1201FC339}"/>
              </a:ext>
            </a:extLst>
          </p:cNvPr>
          <p:cNvSpPr txBox="1"/>
          <p:nvPr/>
        </p:nvSpPr>
        <p:spPr>
          <a:xfrm>
            <a:off x="4681728" y="1353312"/>
            <a:ext cx="32735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当前结论 </a:t>
            </a:r>
            <a:r>
              <a:rPr lang="en-US" altLang="zh-CN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2</a:t>
            </a:r>
            <a:endParaRPr lang="zh-CN" altLang="en-US" sz="1600" b="1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69BA39-3F72-4113-9C40-4D243D979569}"/>
              </a:ext>
            </a:extLst>
          </p:cNvPr>
          <p:cNvSpPr txBox="1"/>
          <p:nvPr/>
        </p:nvSpPr>
        <p:spPr>
          <a:xfrm>
            <a:off x="4681728" y="1645920"/>
            <a:ext cx="3273552" cy="228268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写上位机、板级或参数映射的当前状态。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E102313-5DD7-4E1B-AA1E-4A3C3B653ED3}"/>
              </a:ext>
            </a:extLst>
          </p:cNvPr>
          <p:cNvSpPr/>
          <p:nvPr/>
        </p:nvSpPr>
        <p:spPr>
          <a:xfrm>
            <a:off x="8229600" y="1261872"/>
            <a:ext cx="3063240" cy="1005840"/>
          </a:xfrm>
          <a:prstGeom prst="roundRect">
            <a:avLst/>
          </a:prstGeom>
          <a:solidFill>
            <a:srgbClr val="FFF3D1"/>
          </a:solidFill>
          <a:ln w="9525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7267FD-394D-4488-8F83-76CAA68BF5CC}"/>
              </a:ext>
            </a:extLst>
          </p:cNvPr>
          <p:cNvSpPr/>
          <p:nvPr/>
        </p:nvSpPr>
        <p:spPr>
          <a:xfrm>
            <a:off x="8229600" y="1261872"/>
            <a:ext cx="73152" cy="1005840"/>
          </a:xfrm>
          <a:prstGeom prst="rect">
            <a:avLst/>
          </a:prstGeom>
          <a:solidFill>
            <a:srgbClr val="F29E2F"/>
          </a:solidFill>
          <a:ln w="3810">
            <a:solidFill>
              <a:srgbClr val="F29E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975BEB-9E79-4982-8FE7-49BCE2FB0419}"/>
              </a:ext>
            </a:extLst>
          </p:cNvPr>
          <p:cNvSpPr txBox="1"/>
          <p:nvPr/>
        </p:nvSpPr>
        <p:spPr>
          <a:xfrm>
            <a:off x="8385048" y="1353312"/>
            <a:ext cx="2816352" cy="297517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边界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A072E6-ACE0-4C54-9985-8C65907AEF54}"/>
              </a:ext>
            </a:extLst>
          </p:cNvPr>
          <p:cNvSpPr txBox="1"/>
          <p:nvPr/>
        </p:nvSpPr>
        <p:spPr>
          <a:xfrm>
            <a:off x="8385048" y="1645920"/>
            <a:ext cx="2816352" cy="405239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写尚未完成的 </a:t>
            </a:r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Ctest</a:t>
            </a:r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、</a:t>
            </a:r>
            <a:r>
              <a:rPr lang="en-US" altLang="zh-CN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ADC readout </a:t>
            </a:r>
            <a:r>
              <a:rPr lang="zh-CN" altLang="en-US" sz="115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或上传链。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7385791-3ACC-4ECE-A635-CF3E55A62EF2}"/>
              </a:ext>
            </a:extLst>
          </p:cNvPr>
          <p:cNvSpPr/>
          <p:nvPr/>
        </p:nvSpPr>
        <p:spPr>
          <a:xfrm>
            <a:off x="822960" y="2926080"/>
            <a:ext cx="104698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6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DBE729-A4D0-48BA-B575-A76CCB26C779}"/>
              </a:ext>
            </a:extLst>
          </p:cNvPr>
          <p:cNvSpPr txBox="1"/>
          <p:nvPr/>
        </p:nvSpPr>
        <p:spPr>
          <a:xfrm>
            <a:off x="1051560" y="3127248"/>
            <a:ext cx="1828800" cy="3590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2000" b="1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下一步计划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C238B2-03C1-4D6A-90F1-FEAD103C0959}"/>
              </a:ext>
            </a:extLst>
          </p:cNvPr>
          <p:cNvSpPr txBox="1"/>
          <p:nvPr/>
        </p:nvSpPr>
        <p:spPr>
          <a:xfrm>
            <a:off x="1078992" y="3566160"/>
            <a:ext cx="8961120" cy="88229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\1. </a:t>
            </a:r>
            <a:r>
              <a:rPr lang="zh-CN" altLang="en-US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补齐缺失截图和测试输入归档
</a:t>
            </a:r>
            <a:r>
              <a:rPr lang="en-US" altLang="zh-CN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2. </a:t>
            </a:r>
            <a:r>
              <a:rPr lang="zh-CN" altLang="en-US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执行单字段 </a:t>
            </a:r>
            <a:r>
              <a:rPr lang="en-US" altLang="zh-CN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A/B </a:t>
            </a:r>
            <a:r>
              <a:rPr lang="zh-CN" altLang="en-US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或参数扫描
</a:t>
            </a:r>
            <a:r>
              <a:rPr lang="en-US" altLang="zh-CN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3. </a:t>
            </a:r>
            <a:r>
              <a:rPr lang="zh-CN" altLang="en-US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根据结果进入下一项寄存器或 </a:t>
            </a:r>
            <a:r>
              <a:rPr lang="en-US" altLang="zh-CN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Ctest/ADC </a:t>
            </a:r>
            <a:r>
              <a:rPr lang="zh-CN" altLang="en-US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调试</a:t>
            </a:r>
            <a:r>
              <a:rPr lang="en-US" altLang="zh-CN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\</a:t>
            </a:r>
            <a:endParaRPr lang="zh-CN" altLang="en-US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979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8197F0-7D30-4794-86A5-9B0D9F9B7FC9}"/>
              </a:ext>
            </a:extLst>
          </p:cNvPr>
          <p:cNvSpPr txBox="1"/>
          <p:nvPr/>
        </p:nvSpPr>
        <p:spPr>
          <a:xfrm>
            <a:off x="457200" y="164592"/>
            <a:ext cx="9784080" cy="512961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附录页服务于 </a:t>
            </a:r>
            <a:r>
              <a:rPr lang="en-US" altLang="zh-CN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Q&amp;A </a:t>
            </a:r>
            <a:r>
              <a:rPr lang="zh-CN" altLang="en-US" sz="30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和现场调试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95C273-9282-4751-BEDD-7FDC6D3006BD}"/>
              </a:ext>
            </a:extLst>
          </p:cNvPr>
          <p:cNvSpPr txBox="1"/>
          <p:nvPr/>
        </p:nvSpPr>
        <p:spPr>
          <a:xfrm>
            <a:off x="9738360" y="274320"/>
            <a:ext cx="182880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附录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626D6C-63EB-4AEA-8FB1-BFE59589D2E8}"/>
              </a:ext>
            </a:extLst>
          </p:cNvPr>
          <p:cNvSpPr/>
          <p:nvPr/>
        </p:nvSpPr>
        <p:spPr>
          <a:xfrm>
            <a:off x="822960" y="1325880"/>
            <a:ext cx="1874520" cy="411480"/>
          </a:xfrm>
          <a:prstGeom prst="rect">
            <a:avLst/>
          </a:prstGeom>
          <a:solidFill>
            <a:srgbClr val="173754"/>
          </a:solidFill>
          <a:ln w="381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59C4EC-664B-4328-8BA7-8B44590C4DEF}"/>
              </a:ext>
            </a:extLst>
          </p:cNvPr>
          <p:cNvSpPr txBox="1"/>
          <p:nvPr/>
        </p:nvSpPr>
        <p:spPr>
          <a:xfrm>
            <a:off x="822960" y="1426464"/>
            <a:ext cx="187452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对象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2B1CEA-7A4D-4FB6-8703-BE8819352143}"/>
              </a:ext>
            </a:extLst>
          </p:cNvPr>
          <p:cNvSpPr/>
          <p:nvPr/>
        </p:nvSpPr>
        <p:spPr>
          <a:xfrm>
            <a:off x="2880360" y="1325880"/>
            <a:ext cx="2468880" cy="411480"/>
          </a:xfrm>
          <a:prstGeom prst="rect">
            <a:avLst/>
          </a:prstGeom>
          <a:solidFill>
            <a:srgbClr val="173754"/>
          </a:solidFill>
          <a:ln w="381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0BBD89-F482-44F0-BB1A-1A0343CED898}"/>
              </a:ext>
            </a:extLst>
          </p:cNvPr>
          <p:cNvSpPr txBox="1"/>
          <p:nvPr/>
        </p:nvSpPr>
        <p:spPr>
          <a:xfrm>
            <a:off x="2880360" y="1426464"/>
            <a:ext cx="246888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字段</a:t>
            </a:r>
            <a:r>
              <a:rPr lang="en-US" altLang="zh-CN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/</a:t>
            </a:r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信号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60F96F-B0D2-4790-9540-75FD941D0B13}"/>
              </a:ext>
            </a:extLst>
          </p:cNvPr>
          <p:cNvSpPr/>
          <p:nvPr/>
        </p:nvSpPr>
        <p:spPr>
          <a:xfrm>
            <a:off x="5577840" y="1325880"/>
            <a:ext cx="2331721" cy="411480"/>
          </a:xfrm>
          <a:prstGeom prst="rect">
            <a:avLst/>
          </a:prstGeom>
          <a:solidFill>
            <a:srgbClr val="173754"/>
          </a:solidFill>
          <a:ln w="381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ADBE3E-A8C3-417F-9524-78B5EBC6C014}"/>
              </a:ext>
            </a:extLst>
          </p:cNvPr>
          <p:cNvSpPr txBox="1"/>
          <p:nvPr/>
        </p:nvSpPr>
        <p:spPr>
          <a:xfrm>
            <a:off x="5577840" y="1426464"/>
            <a:ext cx="233172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用途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7D9AB2-7F69-4C62-9D09-708762D60B70}"/>
              </a:ext>
            </a:extLst>
          </p:cNvPr>
          <p:cNvSpPr/>
          <p:nvPr/>
        </p:nvSpPr>
        <p:spPr>
          <a:xfrm>
            <a:off x="8229600" y="1325880"/>
            <a:ext cx="2834640" cy="411480"/>
          </a:xfrm>
          <a:prstGeom prst="rect">
            <a:avLst/>
          </a:prstGeom>
          <a:solidFill>
            <a:srgbClr val="173754"/>
          </a:solidFill>
          <a:ln w="3810">
            <a:solidFill>
              <a:srgbClr val="1737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6484B6-7C8B-4CCB-9FFB-702042074672}"/>
              </a:ext>
            </a:extLst>
          </p:cNvPr>
          <p:cNvSpPr txBox="1"/>
          <p:nvPr/>
        </p:nvSpPr>
        <p:spPr>
          <a:xfrm>
            <a:off x="8229600" y="1426464"/>
            <a:ext cx="2834640" cy="235962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备注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6900D5-61B2-4D53-B497-F78F995C7FE9}"/>
              </a:ext>
            </a:extLst>
          </p:cNvPr>
          <p:cNvSpPr/>
          <p:nvPr/>
        </p:nvSpPr>
        <p:spPr>
          <a:xfrm>
            <a:off x="822960" y="1737360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09D504-67A9-4983-831E-11A177C4FFF7}"/>
              </a:ext>
            </a:extLst>
          </p:cNvPr>
          <p:cNvSpPr/>
          <p:nvPr/>
        </p:nvSpPr>
        <p:spPr>
          <a:xfrm>
            <a:off x="2880360" y="1737360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1B9C4F-B5A6-4580-BF47-8AC8B1E046D2}"/>
              </a:ext>
            </a:extLst>
          </p:cNvPr>
          <p:cNvSpPr/>
          <p:nvPr/>
        </p:nvSpPr>
        <p:spPr>
          <a:xfrm>
            <a:off x="5577840" y="1737360"/>
            <a:ext cx="233172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3D5507-65AE-4D0E-A762-765308240FD9}"/>
              </a:ext>
            </a:extLst>
          </p:cNvPr>
          <p:cNvSpPr/>
          <p:nvPr/>
        </p:nvSpPr>
        <p:spPr>
          <a:xfrm>
            <a:off x="8229600" y="173736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53274F-A4D0-4833-81EB-F78C7BA60A30}"/>
              </a:ext>
            </a:extLst>
          </p:cNvPr>
          <p:cNvSpPr/>
          <p:nvPr/>
        </p:nvSpPr>
        <p:spPr>
          <a:xfrm>
            <a:off x="822960" y="2304288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5C668D-73BD-4237-8A21-8DBD5BBD4174}"/>
              </a:ext>
            </a:extLst>
          </p:cNvPr>
          <p:cNvSpPr/>
          <p:nvPr/>
        </p:nvSpPr>
        <p:spPr>
          <a:xfrm>
            <a:off x="2880360" y="2304288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B4D42C-B3E3-4F35-88D2-1F1AB91BBCBB}"/>
              </a:ext>
            </a:extLst>
          </p:cNvPr>
          <p:cNvSpPr/>
          <p:nvPr/>
        </p:nvSpPr>
        <p:spPr>
          <a:xfrm>
            <a:off x="5577840" y="2304288"/>
            <a:ext cx="233172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E2F602-45E8-4C6D-BAEF-F4D5BC470FFA}"/>
              </a:ext>
            </a:extLst>
          </p:cNvPr>
          <p:cNvSpPr/>
          <p:nvPr/>
        </p:nvSpPr>
        <p:spPr>
          <a:xfrm>
            <a:off x="8229600" y="230428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DFD4BF-1DE8-445B-8501-AEFBCA6FCE77}"/>
              </a:ext>
            </a:extLst>
          </p:cNvPr>
          <p:cNvSpPr/>
          <p:nvPr/>
        </p:nvSpPr>
        <p:spPr>
          <a:xfrm>
            <a:off x="822960" y="2871216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A0FB82-BA90-4FD1-920A-55B3439D7AAC}"/>
              </a:ext>
            </a:extLst>
          </p:cNvPr>
          <p:cNvSpPr/>
          <p:nvPr/>
        </p:nvSpPr>
        <p:spPr>
          <a:xfrm>
            <a:off x="2880360" y="2871216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96D1CC-F1AA-4345-A0FA-9F68184CD5F1}"/>
              </a:ext>
            </a:extLst>
          </p:cNvPr>
          <p:cNvSpPr/>
          <p:nvPr/>
        </p:nvSpPr>
        <p:spPr>
          <a:xfrm>
            <a:off x="5577840" y="2871216"/>
            <a:ext cx="233172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6E32FB-C1DB-42C1-B4F2-8CED884A9A5F}"/>
              </a:ext>
            </a:extLst>
          </p:cNvPr>
          <p:cNvSpPr/>
          <p:nvPr/>
        </p:nvSpPr>
        <p:spPr>
          <a:xfrm>
            <a:off x="8229600" y="287121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15CF83-425E-4890-A6FC-2DB332FA3B57}"/>
              </a:ext>
            </a:extLst>
          </p:cNvPr>
          <p:cNvSpPr/>
          <p:nvPr/>
        </p:nvSpPr>
        <p:spPr>
          <a:xfrm>
            <a:off x="822960" y="3438144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B4BAA8-F116-451E-BE24-EE00510F8812}"/>
              </a:ext>
            </a:extLst>
          </p:cNvPr>
          <p:cNvSpPr/>
          <p:nvPr/>
        </p:nvSpPr>
        <p:spPr>
          <a:xfrm>
            <a:off x="2880360" y="3438144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E72B51-4A20-4910-8574-599D8930AC8E}"/>
              </a:ext>
            </a:extLst>
          </p:cNvPr>
          <p:cNvSpPr/>
          <p:nvPr/>
        </p:nvSpPr>
        <p:spPr>
          <a:xfrm>
            <a:off x="5577840" y="3438144"/>
            <a:ext cx="233172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46C493C-5CB0-46A0-B95E-90AC7D832F15}"/>
              </a:ext>
            </a:extLst>
          </p:cNvPr>
          <p:cNvSpPr/>
          <p:nvPr/>
        </p:nvSpPr>
        <p:spPr>
          <a:xfrm>
            <a:off x="8229600" y="343814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83662F-8C38-4B34-80FC-8D6E3DA342F7}"/>
              </a:ext>
            </a:extLst>
          </p:cNvPr>
          <p:cNvSpPr/>
          <p:nvPr/>
        </p:nvSpPr>
        <p:spPr>
          <a:xfrm>
            <a:off x="822960" y="4005072"/>
            <a:ext cx="1874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AF5F11-ACD2-41BD-B62F-DDAE363F4E16}"/>
              </a:ext>
            </a:extLst>
          </p:cNvPr>
          <p:cNvSpPr/>
          <p:nvPr/>
        </p:nvSpPr>
        <p:spPr>
          <a:xfrm>
            <a:off x="2880360" y="4005072"/>
            <a:ext cx="2468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2491B1-37E2-4BC5-93B4-7FA123FCAF43}"/>
              </a:ext>
            </a:extLst>
          </p:cNvPr>
          <p:cNvSpPr/>
          <p:nvPr/>
        </p:nvSpPr>
        <p:spPr>
          <a:xfrm>
            <a:off x="5577840" y="4005072"/>
            <a:ext cx="2331721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BF58E63-69E6-46A8-A2A8-D2E98053744D}"/>
              </a:ext>
            </a:extLst>
          </p:cNvPr>
          <p:cNvSpPr/>
          <p:nvPr/>
        </p:nvSpPr>
        <p:spPr>
          <a:xfrm>
            <a:off x="8229600" y="400507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ECC79AF-BEAF-4F63-8DC6-4C4C3D42C0B8}"/>
              </a:ext>
            </a:extLst>
          </p:cNvPr>
          <p:cNvSpPr txBox="1"/>
          <p:nvPr/>
        </p:nvSpPr>
        <p:spPr>
          <a:xfrm>
            <a:off x="914400" y="1920240"/>
            <a:ext cx="169164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Slow Control</a:t>
            </a:r>
            <a:endParaRPr lang="zh-CN" altLang="en-US" sz="1100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0C5091-496C-451B-9317-EADF7D3A9E30}"/>
              </a:ext>
            </a:extLst>
          </p:cNvPr>
          <p:cNvSpPr txBox="1"/>
          <p:nvPr/>
        </p:nvSpPr>
        <p:spPr>
          <a:xfrm>
            <a:off x="2971800" y="1920240"/>
            <a:ext cx="228600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en-US" altLang="zh-CN" sz="11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829bit / RSTn_SC / CK_SC / D_SC</a:t>
            </a:r>
            <a:endParaRPr lang="zh-CN" altLang="en-US" sz="1100">
              <a:solidFill>
                <a:srgbClr val="122A40"/>
              </a:solidFill>
              <a:latin typeface="Times New Roman" panose="020B0503020204020204" pitchFamily="34" charset="-122"/>
              <a:ea typeface="微软雅黑"/>
              <a:cs typeface="Times New Roman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2C85216-EE00-4FB7-9F7D-899544F9F0B1}"/>
              </a:ext>
            </a:extLst>
          </p:cNvPr>
          <p:cNvSpPr txBox="1"/>
          <p:nvPr/>
        </p:nvSpPr>
        <p:spPr>
          <a:xfrm>
            <a:off x="5669280" y="1920240"/>
            <a:ext cx="210312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配置链路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1EDDB8C-27DD-4A74-9122-600D2C86DBDD}"/>
              </a:ext>
            </a:extLst>
          </p:cNvPr>
          <p:cNvSpPr txBox="1"/>
          <p:nvPr/>
        </p:nvSpPr>
        <p:spPr>
          <a:xfrm>
            <a:off x="8321040" y="1920240"/>
            <a:ext cx="2651760" cy="220573"/>
          </a:xfrm>
          <a:prstGeom prst="rect">
            <a:avLst/>
          </a:prstGeom>
          <a:noFill/>
        </p:spPr>
        <p:txBody>
          <a:bodyPr vert="horz" lIns="38100" tIns="25400" rIns="38100" bIns="25400" rtlCol="0">
            <a:spAutoFit/>
          </a:bodyPr>
          <a:lstStyle/>
          <a:p>
            <a:r>
              <a:rPr lang="zh-CN" altLang="en-US" sz="1100">
                <a:solidFill>
                  <a:srgbClr val="122A40"/>
                </a:solidFill>
                <a:latin typeface="Times New Roman" panose="020B0503020204020204" pitchFamily="34" charset="-122"/>
                <a:ea typeface="微软雅黑"/>
                <a:cs typeface="Times New Roman"/>
              </a:rPr>
              <a:t>按手册时序检查</a:t>
            </a:r>
          </a:p>
        </p:txBody>
      </p:sp>
    </p:spTree>
    <p:extLst>
      <p:ext uri="{BB962C8B-B14F-4D97-AF65-F5344CB8AC3E}">
        <p14:creationId xmlns:p14="http://schemas.microsoft.com/office/powerpoint/2010/main" val="254193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微软雅黑"/>
        <a:cs typeface="Times New Roman"/>
        <a:font script="Jpan" typeface="微软雅黑"/>
        <a:font script="Hang" typeface="微软雅黑"/>
        <a:font script="Hans" typeface="微软雅黑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微软雅黑"/>
        <a:cs typeface="Times New Roman"/>
        <a:font script="Jpan" typeface="微软雅黑"/>
        <a:font script="Hang" typeface="微软雅黑"/>
        <a:font script="Hans" typeface="微软雅黑"/>
        <a:font script="Hant" typeface="微软雅黑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Microsoft Office PowerPoint</Application>
  <PresentationFormat>宽屏</PresentationFormat>
  <Paragraphs>116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hu</dc:creator>
  <cp:lastModifiedBy>yu hu</cp:lastModifiedBy>
  <cp:revision>3</cp:revision>
  <dcterms:created xsi:type="dcterms:W3CDTF">2026-05-19T13:39:58Z</dcterms:created>
  <dcterms:modified xsi:type="dcterms:W3CDTF">2026-05-19T14:14:08Z</dcterms:modified>
</cp:coreProperties>
</file>